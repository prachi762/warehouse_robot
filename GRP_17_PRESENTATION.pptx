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30178" y="9830698"/>
            <a:ext cx="4587240" cy="74295"/>
          </a:xfrm>
          <a:custGeom>
            <a:avLst/>
            <a:gdLst/>
            <a:ahLst/>
            <a:cxnLst/>
            <a:rect l="l" t="t" r="r" b="b"/>
            <a:pathLst>
              <a:path w="4587240" h="74295">
                <a:moveTo>
                  <a:pt x="0" y="73963"/>
                </a:moveTo>
                <a:lnTo>
                  <a:pt x="4586884" y="73963"/>
                </a:lnTo>
                <a:lnTo>
                  <a:pt x="4586884" y="0"/>
                </a:lnTo>
                <a:lnTo>
                  <a:pt x="0" y="0"/>
                </a:lnTo>
                <a:lnTo>
                  <a:pt x="0" y="73963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15454" y="9830698"/>
            <a:ext cx="4469765" cy="5080"/>
          </a:xfrm>
          <a:custGeom>
            <a:avLst/>
            <a:gdLst/>
            <a:ahLst/>
            <a:cxnLst/>
            <a:rect l="l" t="t" r="r" b="b"/>
            <a:pathLst>
              <a:path w="4469765" h="5079">
                <a:moveTo>
                  <a:pt x="0" y="4816"/>
                </a:moveTo>
                <a:lnTo>
                  <a:pt x="4469372" y="4816"/>
                </a:lnTo>
                <a:lnTo>
                  <a:pt x="4469372" y="0"/>
                </a:lnTo>
                <a:lnTo>
                  <a:pt x="0" y="0"/>
                </a:lnTo>
                <a:lnTo>
                  <a:pt x="0" y="4816"/>
                </a:lnTo>
                <a:close/>
              </a:path>
            </a:pathLst>
          </a:custGeom>
          <a:solidFill>
            <a:srgbClr val="E31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168778" y="9830698"/>
            <a:ext cx="5161915" cy="74295"/>
          </a:xfrm>
          <a:custGeom>
            <a:avLst/>
            <a:gdLst/>
            <a:ahLst/>
            <a:cxnLst/>
            <a:rect l="l" t="t" r="r" b="b"/>
            <a:pathLst>
              <a:path w="5161915" h="74295">
                <a:moveTo>
                  <a:pt x="5161400" y="73963"/>
                </a:moveTo>
                <a:lnTo>
                  <a:pt x="0" y="73963"/>
                </a:lnTo>
                <a:lnTo>
                  <a:pt x="0" y="0"/>
                </a:lnTo>
                <a:lnTo>
                  <a:pt x="5161400" y="0"/>
                </a:lnTo>
                <a:lnTo>
                  <a:pt x="5161400" y="73963"/>
                </a:lnTo>
                <a:close/>
              </a:path>
            </a:pathLst>
          </a:custGeom>
          <a:solidFill>
            <a:srgbClr val="FBB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0" y="5715"/>
            <a:ext cx="4387702" cy="1397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991599" y="9835514"/>
            <a:ext cx="4638675" cy="69215"/>
          </a:xfrm>
          <a:custGeom>
            <a:avLst/>
            <a:gdLst/>
            <a:ahLst/>
            <a:cxnLst/>
            <a:rect l="l" t="t" r="r" b="b"/>
            <a:pathLst>
              <a:path w="4638675" h="69215">
                <a:moveTo>
                  <a:pt x="0" y="69056"/>
                </a:moveTo>
                <a:lnTo>
                  <a:pt x="4638674" y="69056"/>
                </a:lnTo>
                <a:lnTo>
                  <a:pt x="4638674" y="0"/>
                </a:lnTo>
                <a:lnTo>
                  <a:pt x="0" y="0"/>
                </a:lnTo>
                <a:lnTo>
                  <a:pt x="0" y="69056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3630273" y="9835514"/>
            <a:ext cx="4657725" cy="69215"/>
          </a:xfrm>
          <a:custGeom>
            <a:avLst/>
            <a:gdLst/>
            <a:ahLst/>
            <a:cxnLst/>
            <a:rect l="l" t="t" r="r" b="b"/>
            <a:pathLst>
              <a:path w="4657725" h="69215">
                <a:moveTo>
                  <a:pt x="4657724" y="69056"/>
                </a:moveTo>
                <a:lnTo>
                  <a:pt x="0" y="69056"/>
                </a:lnTo>
                <a:lnTo>
                  <a:pt x="0" y="0"/>
                </a:lnTo>
                <a:lnTo>
                  <a:pt x="4657724" y="0"/>
                </a:lnTo>
                <a:lnTo>
                  <a:pt x="4657724" y="690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724399" y="1948814"/>
            <a:ext cx="4638675" cy="69215"/>
          </a:xfrm>
          <a:custGeom>
            <a:avLst/>
            <a:gdLst/>
            <a:ahLst/>
            <a:cxnLst/>
            <a:rect l="l" t="t" r="r" b="b"/>
            <a:pathLst>
              <a:path w="4638675" h="69214">
                <a:moveTo>
                  <a:pt x="0" y="69056"/>
                </a:moveTo>
                <a:lnTo>
                  <a:pt x="4638674" y="69056"/>
                </a:lnTo>
                <a:lnTo>
                  <a:pt x="4638674" y="0"/>
                </a:lnTo>
                <a:lnTo>
                  <a:pt x="0" y="0"/>
                </a:lnTo>
                <a:lnTo>
                  <a:pt x="0" y="69056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948814"/>
            <a:ext cx="4724400" cy="69215"/>
          </a:xfrm>
          <a:custGeom>
            <a:avLst/>
            <a:gdLst/>
            <a:ahLst/>
            <a:cxnLst/>
            <a:rect l="l" t="t" r="r" b="b"/>
            <a:pathLst>
              <a:path w="4724400" h="69214">
                <a:moveTo>
                  <a:pt x="4724399" y="69056"/>
                </a:moveTo>
                <a:lnTo>
                  <a:pt x="0" y="69056"/>
                </a:lnTo>
                <a:lnTo>
                  <a:pt x="0" y="0"/>
                </a:lnTo>
                <a:lnTo>
                  <a:pt x="4724399" y="0"/>
                </a:lnTo>
                <a:lnTo>
                  <a:pt x="4724399" y="69056"/>
                </a:lnTo>
                <a:close/>
              </a:path>
            </a:pathLst>
          </a:custGeom>
          <a:solidFill>
            <a:srgbClr val="FBB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9363074" y="1948814"/>
            <a:ext cx="4657725" cy="69215"/>
          </a:xfrm>
          <a:custGeom>
            <a:avLst/>
            <a:gdLst/>
            <a:ahLst/>
            <a:cxnLst/>
            <a:rect l="l" t="t" r="r" b="b"/>
            <a:pathLst>
              <a:path w="4657725" h="69214">
                <a:moveTo>
                  <a:pt x="4657724" y="69056"/>
                </a:moveTo>
                <a:lnTo>
                  <a:pt x="0" y="69056"/>
                </a:lnTo>
                <a:lnTo>
                  <a:pt x="0" y="0"/>
                </a:lnTo>
                <a:lnTo>
                  <a:pt x="4657724" y="0"/>
                </a:lnTo>
                <a:lnTo>
                  <a:pt x="4657724" y="690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76934" y="548484"/>
            <a:ext cx="5859151" cy="10660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8025" y="3464261"/>
            <a:ext cx="10779760" cy="3291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602" y="0"/>
            <a:ext cx="18270855" cy="10287000"/>
            <a:chOff x="17602" y="0"/>
            <a:chExt cx="1827085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02" y="0"/>
              <a:ext cx="18270397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5204" y="4635903"/>
              <a:ext cx="18251170" cy="4741545"/>
            </a:xfrm>
            <a:custGeom>
              <a:avLst/>
              <a:gdLst/>
              <a:ahLst/>
              <a:cxnLst/>
              <a:rect l="l" t="t" r="r" b="b"/>
              <a:pathLst>
                <a:path w="18251170" h="4741545">
                  <a:moveTo>
                    <a:pt x="18250697" y="4741182"/>
                  </a:moveTo>
                  <a:lnTo>
                    <a:pt x="0" y="4741182"/>
                  </a:lnTo>
                  <a:lnTo>
                    <a:pt x="0" y="0"/>
                  </a:lnTo>
                  <a:lnTo>
                    <a:pt x="18250697" y="0"/>
                  </a:lnTo>
                  <a:lnTo>
                    <a:pt x="18250697" y="4741182"/>
                  </a:lnTo>
                  <a:close/>
                </a:path>
              </a:pathLst>
            </a:custGeom>
            <a:solidFill>
              <a:srgbClr val="0F11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132" y="5321017"/>
              <a:ext cx="2813684" cy="337089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823676" y="5716171"/>
            <a:ext cx="8447405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Intelligent</a:t>
            </a:r>
            <a:r>
              <a:rPr dirty="0" sz="355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30">
                <a:solidFill>
                  <a:srgbClr val="FFFFFF"/>
                </a:solidFill>
                <a:latin typeface="Trebuchet MS"/>
                <a:cs typeface="Trebuchet MS"/>
              </a:rPr>
              <a:t>Warehouse</a:t>
            </a:r>
            <a:r>
              <a:rPr dirty="0" sz="355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Robot</a:t>
            </a:r>
            <a:r>
              <a:rPr dirty="0" sz="3550" spc="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14">
                <a:solidFill>
                  <a:srgbClr val="FFFFFF"/>
                </a:solidFill>
                <a:latin typeface="Trebuchet MS"/>
                <a:cs typeface="Trebuchet MS"/>
              </a:rPr>
              <a:t>Navigation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28098" y="6582044"/>
            <a:ext cx="4916805" cy="2302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ARTIFICIAL</a:t>
            </a:r>
            <a:r>
              <a:rPr dirty="0" sz="2350" spc="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CSF407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350">
              <a:latin typeface="Trebuchet MS"/>
              <a:cs typeface="Trebuchet MS"/>
            </a:endParaRPr>
          </a:p>
          <a:p>
            <a:pPr algn="just" marL="278765" marR="271145" indent="127000">
              <a:lnSpc>
                <a:spcPct val="101099"/>
              </a:lnSpc>
            </a:pP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Prachi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 Garg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2023A7PS0548P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Jyotsna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Lal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2023A7PS0660P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Soham</a:t>
            </a:r>
            <a:r>
              <a:rPr dirty="0" sz="23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Kudva</a:t>
            </a: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2023A7PS0589P</a:t>
            </a:r>
            <a:endParaRPr sz="2350">
              <a:latin typeface="Trebuchet MS"/>
              <a:cs typeface="Trebuchet MS"/>
            </a:endParaRPr>
          </a:p>
          <a:p>
            <a:pPr algn="just" marL="386080">
              <a:lnSpc>
                <a:spcPct val="100000"/>
              </a:lnSpc>
              <a:spcBef>
                <a:spcPts val="630"/>
              </a:spcBef>
            </a:pP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Daksh</a:t>
            </a:r>
            <a:r>
              <a:rPr dirty="0" sz="23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Tyagi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14">
                <a:solidFill>
                  <a:srgbClr val="FFFFFF"/>
                </a:solidFill>
                <a:latin typeface="Trebuchet MS"/>
                <a:cs typeface="Trebuchet MS"/>
              </a:rPr>
              <a:t>2023A7PS0647P</a:t>
            </a:r>
            <a:endParaRPr sz="23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193" y="9374209"/>
            <a:ext cx="18251805" cy="114300"/>
            <a:chOff x="36193" y="9374209"/>
            <a:chExt cx="18251805" cy="114300"/>
          </a:xfrm>
        </p:grpSpPr>
        <p:sp>
          <p:nvSpPr>
            <p:cNvPr id="9" name="object 9" descr=""/>
            <p:cNvSpPr/>
            <p:nvPr/>
          </p:nvSpPr>
          <p:spPr>
            <a:xfrm>
              <a:off x="36193" y="9374209"/>
              <a:ext cx="6114415" cy="114300"/>
            </a:xfrm>
            <a:custGeom>
              <a:avLst/>
              <a:gdLst/>
              <a:ahLst/>
              <a:cxnLst/>
              <a:rect l="l" t="t" r="r" b="b"/>
              <a:pathLst>
                <a:path w="6114415" h="114300">
                  <a:moveTo>
                    <a:pt x="0" y="114299"/>
                  </a:moveTo>
                  <a:lnTo>
                    <a:pt x="6114191" y="114299"/>
                  </a:lnTo>
                  <a:lnTo>
                    <a:pt x="6114191" y="0"/>
                  </a:lnTo>
                  <a:lnTo>
                    <a:pt x="0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388698" y="9374209"/>
              <a:ext cx="5899785" cy="114300"/>
            </a:xfrm>
            <a:custGeom>
              <a:avLst/>
              <a:gdLst/>
              <a:ahLst/>
              <a:cxnLst/>
              <a:rect l="l" t="t" r="r" b="b"/>
              <a:pathLst>
                <a:path w="5899784" h="114300">
                  <a:moveTo>
                    <a:pt x="0" y="114300"/>
                  </a:moveTo>
                  <a:lnTo>
                    <a:pt x="0" y="0"/>
                  </a:lnTo>
                  <a:lnTo>
                    <a:pt x="5899301" y="0"/>
                  </a:lnTo>
                  <a:lnTo>
                    <a:pt x="5899301" y="114299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50384" y="9374209"/>
              <a:ext cx="6238875" cy="114300"/>
            </a:xfrm>
            <a:custGeom>
              <a:avLst/>
              <a:gdLst/>
              <a:ahLst/>
              <a:cxnLst/>
              <a:rect l="l" t="t" r="r" b="b"/>
              <a:pathLst>
                <a:path w="6238875" h="114300">
                  <a:moveTo>
                    <a:pt x="6238313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6238313" y="0"/>
                  </a:lnTo>
                  <a:lnTo>
                    <a:pt x="6238313" y="114299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3338" y="0"/>
            <a:ext cx="4304661" cy="1134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2124247"/>
            <a:ext cx="14813915" cy="76200"/>
            <a:chOff x="0" y="2124247"/>
            <a:chExt cx="14813915" cy="76200"/>
          </a:xfrm>
        </p:grpSpPr>
        <p:sp>
          <p:nvSpPr>
            <p:cNvPr id="4" name="object 4" descr=""/>
            <p:cNvSpPr/>
            <p:nvPr/>
          </p:nvSpPr>
          <p:spPr>
            <a:xfrm>
              <a:off x="4652178" y="2124247"/>
              <a:ext cx="5070475" cy="76200"/>
            </a:xfrm>
            <a:custGeom>
              <a:avLst/>
              <a:gdLst/>
              <a:ahLst/>
              <a:cxnLst/>
              <a:rect l="l" t="t" r="r" b="b"/>
              <a:pathLst>
                <a:path w="5070475" h="76200">
                  <a:moveTo>
                    <a:pt x="0" y="75626"/>
                  </a:moveTo>
                  <a:lnTo>
                    <a:pt x="5070398" y="75626"/>
                  </a:lnTo>
                  <a:lnTo>
                    <a:pt x="5070398" y="0"/>
                  </a:lnTo>
                  <a:lnTo>
                    <a:pt x="0" y="0"/>
                  </a:lnTo>
                  <a:lnTo>
                    <a:pt x="0" y="7562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124247"/>
              <a:ext cx="4652645" cy="76200"/>
            </a:xfrm>
            <a:custGeom>
              <a:avLst/>
              <a:gdLst/>
              <a:ahLst/>
              <a:cxnLst/>
              <a:rect l="l" t="t" r="r" b="b"/>
              <a:pathLst>
                <a:path w="4652645" h="76200">
                  <a:moveTo>
                    <a:pt x="0" y="0"/>
                  </a:moveTo>
                  <a:lnTo>
                    <a:pt x="4652178" y="14"/>
                  </a:lnTo>
                  <a:lnTo>
                    <a:pt x="4652178" y="75626"/>
                  </a:lnTo>
                  <a:lnTo>
                    <a:pt x="0" y="75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22577" y="2124247"/>
              <a:ext cx="5091430" cy="76200"/>
            </a:xfrm>
            <a:custGeom>
              <a:avLst/>
              <a:gdLst/>
              <a:ahLst/>
              <a:cxnLst/>
              <a:rect l="l" t="t" r="r" b="b"/>
              <a:pathLst>
                <a:path w="5091430" h="76200">
                  <a:moveTo>
                    <a:pt x="5091221" y="75626"/>
                  </a:moveTo>
                  <a:lnTo>
                    <a:pt x="0" y="75626"/>
                  </a:lnTo>
                  <a:lnTo>
                    <a:pt x="0" y="0"/>
                  </a:lnTo>
                  <a:lnTo>
                    <a:pt x="5091221" y="0"/>
                  </a:lnTo>
                  <a:lnTo>
                    <a:pt x="5091221" y="756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449543" y="39681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789119" y="3665302"/>
            <a:ext cx="15739110" cy="42640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37160" marR="857885">
              <a:lnSpc>
                <a:spcPts val="4650"/>
              </a:lnSpc>
              <a:spcBef>
                <a:spcPts val="315"/>
              </a:spcBef>
            </a:pPr>
            <a:r>
              <a:rPr dirty="0" sz="3900">
                <a:latin typeface="Times New Roman"/>
                <a:cs typeface="Times New Roman"/>
              </a:rPr>
              <a:t>Design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an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intelligent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agent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for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warehouse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robot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operating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on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 spc="-20">
                <a:latin typeface="Times New Roman"/>
                <a:cs typeface="Times New Roman"/>
              </a:rPr>
              <a:t>grid.</a:t>
            </a:r>
            <a:r>
              <a:rPr dirty="0" sz="3900" spc="97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robot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navigate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through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warehouse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while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avoiding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obstacles. </a:t>
            </a:r>
            <a:r>
              <a:rPr dirty="0" sz="3900">
                <a:latin typeface="Times New Roman"/>
                <a:cs typeface="Times New Roman"/>
              </a:rPr>
              <a:t>It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collect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all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required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items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placed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different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locations.</a:t>
            </a:r>
            <a:endParaRPr sz="3900">
              <a:latin typeface="Times New Roman"/>
              <a:cs typeface="Times New Roman"/>
            </a:endParaRPr>
          </a:p>
          <a:p>
            <a:pPr marL="137795">
              <a:lnSpc>
                <a:spcPts val="4500"/>
              </a:lnSpc>
            </a:pPr>
            <a:r>
              <a:rPr dirty="0" sz="3900">
                <a:latin typeface="Times New Roman"/>
                <a:cs typeface="Times New Roman"/>
              </a:rPr>
              <a:t>After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collecting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all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items,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reach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delivery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location.</a:t>
            </a:r>
            <a:endParaRPr sz="39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  <a:spcBef>
                <a:spcPts val="345"/>
              </a:spcBef>
            </a:pP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objective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is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to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solve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this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task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efficiently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under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Level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3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constraints.</a:t>
            </a:r>
            <a:endParaRPr sz="3900">
              <a:latin typeface="Times New Roman"/>
              <a:cs typeface="Times New Roman"/>
            </a:endParaRPr>
          </a:p>
          <a:p>
            <a:pPr marL="12700" marR="5080" indent="219075">
              <a:lnSpc>
                <a:spcPts val="4650"/>
              </a:lnSpc>
              <a:spcBef>
                <a:spcPts val="480"/>
              </a:spcBef>
              <a:tabLst>
                <a:tab pos="1586230" algn="l"/>
                <a:tab pos="1673225" algn="l"/>
                <a:tab pos="3910329" algn="l"/>
                <a:tab pos="4684395" algn="l"/>
                <a:tab pos="5069205" algn="l"/>
                <a:tab pos="7393940" algn="l"/>
                <a:tab pos="9704070" algn="l"/>
                <a:tab pos="11751945" algn="l"/>
                <a:tab pos="14077315" algn="l"/>
              </a:tabLst>
            </a:pPr>
            <a:r>
              <a:rPr dirty="0" sz="3900" spc="-10">
                <a:latin typeface="Times New Roman"/>
                <a:cs typeface="Times New Roman"/>
              </a:rPr>
              <a:t>Level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attempted: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25">
                <a:latin typeface="Times New Roman"/>
                <a:cs typeface="Times New Roman"/>
              </a:rPr>
              <a:t>L3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50">
                <a:latin typeface="Times New Roman"/>
                <a:cs typeface="Times New Roman"/>
              </a:rPr>
              <a:t>-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multi-</a:t>
            </a:r>
            <a:r>
              <a:rPr dirty="0" sz="3900" spc="-20">
                <a:latin typeface="Times New Roman"/>
                <a:cs typeface="Times New Roman"/>
              </a:rPr>
              <a:t>item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collection,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weighted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movement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cost,and final</a:t>
            </a:r>
            <a:r>
              <a:rPr dirty="0" sz="3900">
                <a:latin typeface="Times New Roman"/>
                <a:cs typeface="Times New Roman"/>
              </a:rPr>
              <a:t>		</a:t>
            </a:r>
            <a:r>
              <a:rPr dirty="0" sz="3900" spc="-10">
                <a:latin typeface="Times New Roman"/>
                <a:cs typeface="Times New Roman"/>
              </a:rPr>
              <a:t>delivery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449543" y="455868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49543" y="51492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49543" y="573978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49543" y="637795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49543" y="70161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158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95"/>
              </a:spcBef>
            </a:pPr>
            <a:r>
              <a:rPr dirty="0" sz="5450" spc="-215"/>
              <a:t>Problem</a:t>
            </a:r>
            <a:r>
              <a:rPr dirty="0" sz="5450" spc="-409"/>
              <a:t> </a:t>
            </a:r>
            <a:r>
              <a:rPr dirty="0" sz="5450" spc="-190"/>
              <a:t>Statement</a:t>
            </a:r>
            <a:endParaRPr sz="5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71759" y="9815327"/>
            <a:ext cx="25380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4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68778" y="9759118"/>
            <a:ext cx="14119225" cy="74295"/>
            <a:chOff x="4168778" y="9759118"/>
            <a:chExt cx="14119225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30178" y="9759118"/>
              <a:ext cx="4587240" cy="74295"/>
            </a:xfrm>
            <a:custGeom>
              <a:avLst/>
              <a:gdLst/>
              <a:ahLst/>
              <a:cxnLst/>
              <a:rect l="l" t="t" r="r" b="b"/>
              <a:pathLst>
                <a:path w="4587240" h="74295">
                  <a:moveTo>
                    <a:pt x="0" y="73963"/>
                  </a:moveTo>
                  <a:lnTo>
                    <a:pt x="4586884" y="73963"/>
                  </a:lnTo>
                  <a:lnTo>
                    <a:pt x="4586884" y="0"/>
                  </a:lnTo>
                  <a:lnTo>
                    <a:pt x="0" y="0"/>
                  </a:lnTo>
                  <a:lnTo>
                    <a:pt x="0" y="73963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15454" y="9759118"/>
              <a:ext cx="4469765" cy="5080"/>
            </a:xfrm>
            <a:custGeom>
              <a:avLst/>
              <a:gdLst/>
              <a:ahLst/>
              <a:cxnLst/>
              <a:rect l="l" t="t" r="r" b="b"/>
              <a:pathLst>
                <a:path w="4469765" h="5079">
                  <a:moveTo>
                    <a:pt x="0" y="4816"/>
                  </a:moveTo>
                  <a:lnTo>
                    <a:pt x="4469372" y="4816"/>
                  </a:lnTo>
                  <a:lnTo>
                    <a:pt x="4469372" y="0"/>
                  </a:lnTo>
                  <a:lnTo>
                    <a:pt x="0" y="0"/>
                  </a:lnTo>
                  <a:lnTo>
                    <a:pt x="0" y="4816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68778" y="9759118"/>
              <a:ext cx="5161915" cy="74295"/>
            </a:xfrm>
            <a:custGeom>
              <a:avLst/>
              <a:gdLst/>
              <a:ahLst/>
              <a:cxnLst/>
              <a:rect l="l" t="t" r="r" b="b"/>
              <a:pathLst>
                <a:path w="5161915" h="74295">
                  <a:moveTo>
                    <a:pt x="5161400" y="73963"/>
                  </a:moveTo>
                  <a:lnTo>
                    <a:pt x="0" y="73963"/>
                  </a:lnTo>
                  <a:lnTo>
                    <a:pt x="0" y="0"/>
                  </a:lnTo>
                  <a:lnTo>
                    <a:pt x="5161400" y="0"/>
                  </a:lnTo>
                  <a:lnTo>
                    <a:pt x="5161400" y="73963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91599" y="9763934"/>
              <a:ext cx="4638675" cy="69215"/>
            </a:xfrm>
            <a:custGeom>
              <a:avLst/>
              <a:gdLst/>
              <a:ahLst/>
              <a:cxnLst/>
              <a:rect l="l" t="t" r="r" b="b"/>
              <a:pathLst>
                <a:path w="4638675" h="69215">
                  <a:moveTo>
                    <a:pt x="0" y="69056"/>
                  </a:moveTo>
                  <a:lnTo>
                    <a:pt x="4638674" y="69056"/>
                  </a:lnTo>
                  <a:lnTo>
                    <a:pt x="4638674" y="0"/>
                  </a:lnTo>
                  <a:lnTo>
                    <a:pt x="0" y="0"/>
                  </a:lnTo>
                  <a:lnTo>
                    <a:pt x="0" y="6905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30274" y="9763934"/>
              <a:ext cx="4657725" cy="69215"/>
            </a:xfrm>
            <a:custGeom>
              <a:avLst/>
              <a:gdLst/>
              <a:ahLst/>
              <a:cxnLst/>
              <a:rect l="l" t="t" r="r" b="b"/>
              <a:pathLst>
                <a:path w="4657725" h="69215">
                  <a:moveTo>
                    <a:pt x="4657724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657724" y="0"/>
                  </a:lnTo>
                  <a:lnTo>
                    <a:pt x="4657724" y="690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0" y="0"/>
            <a:ext cx="4387881" cy="97235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877234"/>
            <a:ext cx="14020800" cy="69215"/>
            <a:chOff x="0" y="1877234"/>
            <a:chExt cx="14020800" cy="69215"/>
          </a:xfrm>
        </p:grpSpPr>
        <p:sp>
          <p:nvSpPr>
            <p:cNvPr id="11" name="object 11" descr=""/>
            <p:cNvSpPr/>
            <p:nvPr/>
          </p:nvSpPr>
          <p:spPr>
            <a:xfrm>
              <a:off x="4724399" y="1877234"/>
              <a:ext cx="4638675" cy="69215"/>
            </a:xfrm>
            <a:custGeom>
              <a:avLst/>
              <a:gdLst/>
              <a:ahLst/>
              <a:cxnLst/>
              <a:rect l="l" t="t" r="r" b="b"/>
              <a:pathLst>
                <a:path w="4638675" h="69214">
                  <a:moveTo>
                    <a:pt x="0" y="69056"/>
                  </a:moveTo>
                  <a:lnTo>
                    <a:pt x="4638674" y="69056"/>
                  </a:lnTo>
                  <a:lnTo>
                    <a:pt x="4638674" y="0"/>
                  </a:lnTo>
                  <a:lnTo>
                    <a:pt x="0" y="0"/>
                  </a:lnTo>
                  <a:lnTo>
                    <a:pt x="0" y="6905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877234"/>
              <a:ext cx="4724400" cy="69215"/>
            </a:xfrm>
            <a:custGeom>
              <a:avLst/>
              <a:gdLst/>
              <a:ahLst/>
              <a:cxnLst/>
              <a:rect l="l" t="t" r="r" b="b"/>
              <a:pathLst>
                <a:path w="4724400" h="69214">
                  <a:moveTo>
                    <a:pt x="4724399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724399" y="0"/>
                  </a:lnTo>
                  <a:lnTo>
                    <a:pt x="4724399" y="69056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63074" y="1877234"/>
              <a:ext cx="4657725" cy="69215"/>
            </a:xfrm>
            <a:custGeom>
              <a:avLst/>
              <a:gdLst/>
              <a:ahLst/>
              <a:cxnLst/>
              <a:rect l="l" t="t" r="r" b="b"/>
              <a:pathLst>
                <a:path w="4657725" h="69214">
                  <a:moveTo>
                    <a:pt x="4657724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657724" y="0"/>
                  </a:lnTo>
                  <a:lnTo>
                    <a:pt x="4657724" y="690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446094" y="35885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46094" y="46744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446094" y="57602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446094" y="68461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84194" y="79319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23794" y="2775763"/>
            <a:ext cx="12684125" cy="5460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State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Representation:</a:t>
            </a:r>
            <a:endParaRPr sz="3600">
              <a:latin typeface="Times New Roman"/>
              <a:cs typeface="Times New Roman"/>
            </a:endParaRPr>
          </a:p>
          <a:p>
            <a:pPr marL="953135" marR="3287395" indent="114300">
              <a:lnSpc>
                <a:spcPts val="4270"/>
              </a:lnSpc>
              <a:spcBef>
                <a:spcPts val="160"/>
              </a:spcBef>
            </a:pPr>
            <a:r>
              <a:rPr dirty="0" sz="3600">
                <a:latin typeface="Times New Roman"/>
                <a:cs typeface="Times New Roman"/>
              </a:rPr>
              <a:t>State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=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(robot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position,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collected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mask) Actions:</a:t>
            </a:r>
            <a:endParaRPr sz="3600">
              <a:latin typeface="Times New Roman"/>
              <a:cs typeface="Times New Roman"/>
            </a:endParaRPr>
          </a:p>
          <a:p>
            <a:pPr marL="953135" marR="7468234" indent="114300">
              <a:lnSpc>
                <a:spcPts val="4280"/>
              </a:lnSpc>
            </a:pPr>
            <a:r>
              <a:rPr dirty="0" sz="3600">
                <a:latin typeface="Times New Roman"/>
                <a:cs typeface="Times New Roman"/>
              </a:rPr>
              <a:t>Up,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Down,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Left,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Right Transition:</a:t>
            </a:r>
            <a:endParaRPr sz="3600">
              <a:latin typeface="Times New Roman"/>
              <a:cs typeface="Times New Roman"/>
            </a:endParaRPr>
          </a:p>
          <a:p>
            <a:pPr marL="1067435">
              <a:lnSpc>
                <a:spcPts val="4110"/>
              </a:lnSpc>
            </a:pPr>
            <a:r>
              <a:rPr dirty="0" sz="3600">
                <a:latin typeface="Times New Roman"/>
                <a:cs typeface="Times New Roman"/>
              </a:rPr>
              <a:t>Move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valid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non-</a:t>
            </a:r>
            <a:r>
              <a:rPr dirty="0" sz="3600">
                <a:latin typeface="Times New Roman"/>
                <a:cs typeface="Times New Roman"/>
              </a:rPr>
              <a:t>obstacle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cells;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automatically</a:t>
            </a:r>
            <a:endParaRPr sz="3600">
              <a:latin typeface="Times New Roman"/>
              <a:cs typeface="Times New Roman"/>
            </a:endParaRPr>
          </a:p>
          <a:p>
            <a:pPr marL="953135">
              <a:lnSpc>
                <a:spcPts val="4275"/>
              </a:lnSpc>
            </a:pPr>
            <a:r>
              <a:rPr dirty="0" sz="3600" spc="-10">
                <a:latin typeface="Times New Roman"/>
                <a:cs typeface="Times New Roman"/>
              </a:rPr>
              <a:t>Goal:</a:t>
            </a:r>
            <a:endParaRPr sz="3600">
              <a:latin typeface="Times New Roman"/>
              <a:cs typeface="Times New Roman"/>
            </a:endParaRPr>
          </a:p>
          <a:p>
            <a:pPr marL="953135" marR="2213610">
              <a:lnSpc>
                <a:spcPts val="4270"/>
              </a:lnSpc>
              <a:spcBef>
                <a:spcPts val="165"/>
              </a:spcBef>
            </a:pPr>
            <a:r>
              <a:rPr dirty="0" sz="3600">
                <a:latin typeface="Times New Roman"/>
                <a:cs typeface="Times New Roman"/>
              </a:rPr>
              <a:t>All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collected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robot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reaches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delivery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cell </a:t>
            </a:r>
            <a:r>
              <a:rPr dirty="0" sz="3600">
                <a:latin typeface="Times New Roman"/>
                <a:cs typeface="Times New Roman"/>
              </a:rPr>
              <a:t>Path </a:t>
            </a:r>
            <a:r>
              <a:rPr dirty="0" sz="3600" spc="-10">
                <a:latin typeface="Times New Roman"/>
                <a:cs typeface="Times New Roman"/>
              </a:rPr>
              <a:t>Cost:</a:t>
            </a:r>
            <a:endParaRPr sz="3600">
              <a:latin typeface="Times New Roman"/>
              <a:cs typeface="Times New Roman"/>
            </a:endParaRPr>
          </a:p>
          <a:p>
            <a:pPr marL="995044">
              <a:lnSpc>
                <a:spcPts val="4145"/>
              </a:lnSpc>
            </a:pPr>
            <a:r>
              <a:rPr dirty="0" sz="3600">
                <a:latin typeface="Times New Roman"/>
                <a:cs typeface="Times New Roman"/>
              </a:rPr>
              <a:t>Cost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of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entering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destination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cell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(Normal=1,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Weighted=Higher)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50" spc="-200"/>
              <a:t>Problem</a:t>
            </a:r>
            <a:r>
              <a:rPr dirty="0" sz="5050" spc="-385"/>
              <a:t> </a:t>
            </a:r>
            <a:r>
              <a:rPr dirty="0" sz="5050" spc="-185"/>
              <a:t>Formulation</a:t>
            </a:r>
            <a:endParaRPr sz="5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837" y="142970"/>
            <a:ext cx="4320635" cy="102231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80120" y="2056262"/>
            <a:ext cx="13801725" cy="68580"/>
            <a:chOff x="280120" y="2056262"/>
            <a:chExt cx="13801725" cy="68580"/>
          </a:xfrm>
        </p:grpSpPr>
        <p:sp>
          <p:nvSpPr>
            <p:cNvPr id="4" name="object 4" descr=""/>
            <p:cNvSpPr/>
            <p:nvPr/>
          </p:nvSpPr>
          <p:spPr>
            <a:xfrm>
              <a:off x="4930701" y="2056262"/>
              <a:ext cx="4566285" cy="68580"/>
            </a:xfrm>
            <a:custGeom>
              <a:avLst/>
              <a:gdLst/>
              <a:ahLst/>
              <a:cxnLst/>
              <a:rect l="l" t="t" r="r" b="b"/>
              <a:pathLst>
                <a:path w="4566284" h="68580">
                  <a:moveTo>
                    <a:pt x="0" y="68130"/>
                  </a:moveTo>
                  <a:lnTo>
                    <a:pt x="4566195" y="68130"/>
                  </a:lnTo>
                  <a:lnTo>
                    <a:pt x="4566195" y="0"/>
                  </a:lnTo>
                  <a:lnTo>
                    <a:pt x="0" y="0"/>
                  </a:lnTo>
                  <a:lnTo>
                    <a:pt x="0" y="6813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0120" y="2056262"/>
              <a:ext cx="4650740" cy="68580"/>
            </a:xfrm>
            <a:custGeom>
              <a:avLst/>
              <a:gdLst/>
              <a:ahLst/>
              <a:cxnLst/>
              <a:rect l="l" t="t" r="r" b="b"/>
              <a:pathLst>
                <a:path w="4650740" h="68580">
                  <a:moveTo>
                    <a:pt x="4650581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650581" y="0"/>
                  </a:lnTo>
                  <a:lnTo>
                    <a:pt x="4650581" y="6813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96897" y="2056262"/>
              <a:ext cx="4585335" cy="68580"/>
            </a:xfrm>
            <a:custGeom>
              <a:avLst/>
              <a:gdLst/>
              <a:ahLst/>
              <a:cxnLst/>
              <a:rect l="l" t="t" r="r" b="b"/>
              <a:pathLst>
                <a:path w="4585334" h="68580">
                  <a:moveTo>
                    <a:pt x="4584948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584948" y="0"/>
                  </a:lnTo>
                  <a:lnTo>
                    <a:pt x="4584948" y="68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5299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Why</a:t>
            </a:r>
            <a:r>
              <a:rPr dirty="0" spc="-320"/>
              <a:t> </a:t>
            </a:r>
            <a:r>
              <a:rPr dirty="0" spc="-155"/>
              <a:t>Level</a:t>
            </a:r>
            <a:r>
              <a:rPr dirty="0" spc="-315"/>
              <a:t> </a:t>
            </a:r>
            <a:r>
              <a:rPr dirty="0" spc="-30"/>
              <a:t>3</a:t>
            </a:r>
            <a:r>
              <a:rPr dirty="0" spc="-315"/>
              <a:t> </a:t>
            </a:r>
            <a:r>
              <a:rPr dirty="0" spc="-140"/>
              <a:t>Was</a:t>
            </a:r>
            <a:r>
              <a:rPr dirty="0" spc="-315"/>
              <a:t> </a:t>
            </a:r>
            <a:r>
              <a:rPr dirty="0" spc="-130"/>
              <a:t>Attempted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352" y="2772016"/>
            <a:ext cx="133350" cy="1333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17726" y="2545003"/>
            <a:ext cx="15123160" cy="62204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250"/>
              </a:spcBef>
            </a:pPr>
            <a:r>
              <a:rPr dirty="0" sz="3150">
                <a:latin typeface="Arial MT"/>
                <a:cs typeface="Arial MT"/>
              </a:rPr>
              <a:t>To model a </a:t>
            </a:r>
            <a:r>
              <a:rPr dirty="0" sz="3150" b="1">
                <a:latin typeface="Arial"/>
                <a:cs typeface="Arial"/>
              </a:rPr>
              <a:t>real-world warehouse delivery scenario </a:t>
            </a:r>
            <a:r>
              <a:rPr dirty="0" sz="3150">
                <a:latin typeface="Arial MT"/>
                <a:cs typeface="Arial MT"/>
              </a:rPr>
              <a:t>involving multiple item </a:t>
            </a:r>
            <a:r>
              <a:rPr dirty="0" sz="3150" spc="-10">
                <a:latin typeface="Arial MT"/>
                <a:cs typeface="Arial MT"/>
              </a:rPr>
              <a:t>pickups </a:t>
            </a:r>
            <a:r>
              <a:rPr dirty="0" sz="3150">
                <a:latin typeface="Arial MT"/>
                <a:cs typeface="Arial MT"/>
              </a:rPr>
              <a:t>instead of a single </a:t>
            </a:r>
            <a:r>
              <a:rPr dirty="0" sz="3150" spc="-10">
                <a:latin typeface="Arial MT"/>
                <a:cs typeface="Arial MT"/>
              </a:rPr>
              <a:t>target.</a:t>
            </a: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3150">
              <a:latin typeface="Arial MT"/>
              <a:cs typeface="Arial MT"/>
            </a:endParaRPr>
          </a:p>
          <a:p>
            <a:pPr marL="12700" marR="872490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</a:t>
            </a:r>
            <a:r>
              <a:rPr dirty="0" sz="3150" spc="-25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handle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 b="1">
                <a:latin typeface="Arial"/>
                <a:cs typeface="Arial"/>
              </a:rPr>
              <a:t>multi-objective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optimization</a:t>
            </a:r>
            <a:r>
              <a:rPr dirty="0" sz="3150">
                <a:latin typeface="Arial MT"/>
                <a:cs typeface="Arial MT"/>
              </a:rPr>
              <a:t>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balancing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cost,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energy,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and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item</a:t>
            </a:r>
            <a:r>
              <a:rPr dirty="0" sz="3150" spc="-25">
                <a:latin typeface="Arial MT"/>
                <a:cs typeface="Arial MT"/>
              </a:rPr>
              <a:t> </a:t>
            </a:r>
            <a:r>
              <a:rPr dirty="0" sz="3150" spc="-10">
                <a:latin typeface="Arial MT"/>
                <a:cs typeface="Arial MT"/>
              </a:rPr>
              <a:t>value simultaneously.</a:t>
            </a: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150">
              <a:latin typeface="Arial MT"/>
              <a:cs typeface="Arial MT"/>
            </a:endParaRPr>
          </a:p>
          <a:p>
            <a:pPr marL="12700" marR="1382395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 simulate </a:t>
            </a:r>
            <a:r>
              <a:rPr dirty="0" sz="3150" b="1">
                <a:latin typeface="Arial"/>
                <a:cs typeface="Arial"/>
              </a:rPr>
              <a:t>realistic constraints </a:t>
            </a:r>
            <a:r>
              <a:rPr dirty="0" sz="3150">
                <a:latin typeface="Arial MT"/>
                <a:cs typeface="Arial MT"/>
              </a:rPr>
              <a:t>such as limited energy and obstacles in </a:t>
            </a:r>
            <a:r>
              <a:rPr dirty="0" sz="3150" spc="-25">
                <a:latin typeface="Arial MT"/>
                <a:cs typeface="Arial MT"/>
              </a:rPr>
              <a:t>the </a:t>
            </a:r>
            <a:r>
              <a:rPr dirty="0" sz="3150" spc="-10">
                <a:latin typeface="Arial MT"/>
                <a:cs typeface="Arial MT"/>
              </a:rPr>
              <a:t>environment.</a:t>
            </a:r>
            <a:endParaRPr sz="3150">
              <a:latin typeface="Arial MT"/>
              <a:cs typeface="Arial MT"/>
            </a:endParaRPr>
          </a:p>
          <a:p>
            <a:pPr marL="12700" marR="337820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 evaluate how different search algorithms perform in </a:t>
            </a:r>
            <a:r>
              <a:rPr dirty="0" sz="3150" b="1">
                <a:latin typeface="Arial"/>
                <a:cs typeface="Arial"/>
              </a:rPr>
              <a:t>complex, large-scale </a:t>
            </a:r>
            <a:r>
              <a:rPr dirty="0" sz="3150" spc="-10" b="1">
                <a:latin typeface="Arial"/>
                <a:cs typeface="Arial"/>
              </a:rPr>
              <a:t>state spaces</a:t>
            </a:r>
            <a:r>
              <a:rPr dirty="0" sz="3150" spc="-10">
                <a:latin typeface="Arial MT"/>
                <a:cs typeface="Arial MT"/>
              </a:rPr>
              <a:t>.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ts val="3765"/>
              </a:lnSpc>
              <a:spcBef>
                <a:spcPts val="3600"/>
              </a:spcBef>
            </a:pPr>
            <a:r>
              <a:rPr dirty="0" sz="3150">
                <a:latin typeface="Arial MT"/>
                <a:cs typeface="Arial MT"/>
              </a:rPr>
              <a:t>To move beyond simple shortest-path problems and design a solution suitable </a:t>
            </a:r>
            <a:r>
              <a:rPr dirty="0" sz="3150" spc="-25">
                <a:latin typeface="Arial MT"/>
                <a:cs typeface="Arial MT"/>
              </a:rPr>
              <a:t>for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ts val="3765"/>
              </a:lnSpc>
            </a:pPr>
            <a:r>
              <a:rPr dirty="0" sz="3150" b="1">
                <a:latin typeface="Arial"/>
                <a:cs typeface="Arial"/>
              </a:rPr>
              <a:t>practical robotic navigation </a:t>
            </a:r>
            <a:r>
              <a:rPr dirty="0" sz="3150" spc="-10" b="1">
                <a:latin typeface="Arial"/>
                <a:cs typeface="Arial"/>
              </a:rPr>
              <a:t>tasks</a:t>
            </a:r>
            <a:r>
              <a:rPr dirty="0" sz="3150" spc="-10">
                <a:latin typeface="Arial MT"/>
                <a:cs typeface="Arial MT"/>
              </a:rPr>
              <a:t>.</a:t>
            </a:r>
            <a:endParaRPr sz="31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352" y="4200766"/>
            <a:ext cx="133350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2352" y="5629516"/>
            <a:ext cx="133350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2352" y="6582016"/>
            <a:ext cx="133350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2352" y="8010766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568" rIns="0" bIns="0" rtlCol="0" vert="horz">
            <a:spAutoFit/>
          </a:bodyPr>
          <a:lstStyle/>
          <a:p>
            <a:pPr marL="742315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Algorithms</a:t>
            </a:r>
            <a:r>
              <a:rPr dirty="0" spc="-265"/>
              <a:t> </a:t>
            </a:r>
            <a:r>
              <a:rPr dirty="0" spc="-135"/>
              <a:t>Selected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671759" y="9886908"/>
            <a:ext cx="25380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4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376" y="3027901"/>
            <a:ext cx="5570028" cy="227825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066921" y="3347481"/>
            <a:ext cx="331787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 spc="-20">
                <a:latin typeface="Trebuchet MS"/>
                <a:cs typeface="Trebuchet MS"/>
              </a:rPr>
              <a:t>BFS: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 spc="-10">
                <a:latin typeface="Trebuchet MS"/>
                <a:cs typeface="Trebuchet MS"/>
              </a:rPr>
              <a:t>Uninformed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9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Shortest</a:t>
            </a:r>
            <a:r>
              <a:rPr dirty="0" sz="3600" spc="295">
                <a:latin typeface="Trebuchet MS"/>
                <a:cs typeface="Trebuchet MS"/>
              </a:rPr>
              <a:t> </a:t>
            </a:r>
            <a:r>
              <a:rPr dirty="0" sz="3600" spc="65">
                <a:latin typeface="Trebuchet MS"/>
                <a:cs typeface="Trebuchet MS"/>
              </a:rPr>
              <a:t>steps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9150" y="3052289"/>
            <a:ext cx="5570027" cy="227825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382121" y="3347481"/>
            <a:ext cx="3526154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 spc="45">
                <a:latin typeface="Trebuchet MS"/>
                <a:cs typeface="Trebuchet MS"/>
              </a:rPr>
              <a:t>UCS: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Lowest</a:t>
            </a:r>
            <a:r>
              <a:rPr dirty="0" sz="3600" spc="114">
                <a:latin typeface="Trebuchet MS"/>
                <a:cs typeface="Trebuchet MS"/>
              </a:rPr>
              <a:t> </a:t>
            </a:r>
            <a:r>
              <a:rPr dirty="0" sz="3600" spc="-20">
                <a:latin typeface="Trebuchet MS"/>
                <a:cs typeface="Trebuchet MS"/>
              </a:rPr>
              <a:t>cost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9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Optimal</a:t>
            </a:r>
            <a:r>
              <a:rPr dirty="0" sz="3600" spc="-55">
                <a:latin typeface="Trebuchet MS"/>
                <a:cs typeface="Trebuchet MS"/>
              </a:rPr>
              <a:t> </a:t>
            </a:r>
            <a:r>
              <a:rPr dirty="0" sz="3600" spc="50">
                <a:latin typeface="Trebuchet MS"/>
                <a:cs typeface="Trebuchet MS"/>
              </a:rPr>
              <a:t>energy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376" y="6980042"/>
            <a:ext cx="5570028" cy="2278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066921" y="7267895"/>
            <a:ext cx="3773170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 spc="-10">
                <a:latin typeface="Trebuchet MS"/>
                <a:cs typeface="Trebuchet MS"/>
              </a:rPr>
              <a:t>Greedy: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 spc="45">
                <a:latin typeface="Trebuchet MS"/>
                <a:cs typeface="Trebuchet MS"/>
              </a:rPr>
              <a:t>Heuristic</a:t>
            </a:r>
            <a:r>
              <a:rPr dirty="0" sz="3600" spc="35">
                <a:latin typeface="Trebuchet MS"/>
                <a:cs typeface="Trebuchet MS"/>
              </a:rPr>
              <a:t> </a:t>
            </a:r>
            <a:r>
              <a:rPr dirty="0" sz="3600" spc="-20">
                <a:latin typeface="Trebuchet MS"/>
                <a:cs typeface="Trebuchet MS"/>
              </a:rPr>
              <a:t>only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300"/>
              </a:lnSpc>
              <a:buChar char="-"/>
              <a:tabLst>
                <a:tab pos="306705" algn="l"/>
              </a:tabLst>
            </a:pPr>
            <a:r>
              <a:rPr dirty="0" sz="3600" spc="-45">
                <a:latin typeface="Trebuchet MS"/>
                <a:cs typeface="Trebuchet MS"/>
              </a:rPr>
              <a:t>Fast,</a:t>
            </a:r>
            <a:r>
              <a:rPr dirty="0" sz="3600" spc="-215">
                <a:latin typeface="Trebuchet MS"/>
                <a:cs typeface="Trebuchet MS"/>
              </a:rPr>
              <a:t> </a:t>
            </a:r>
            <a:r>
              <a:rPr dirty="0" sz="3600">
                <a:latin typeface="Trebuchet MS"/>
                <a:cs typeface="Trebuchet MS"/>
              </a:rPr>
              <a:t>not</a:t>
            </a:r>
            <a:r>
              <a:rPr dirty="0" sz="3600" spc="-215">
                <a:latin typeface="Trebuchet MS"/>
                <a:cs typeface="Trebuchet MS"/>
              </a:rPr>
              <a:t> </a:t>
            </a:r>
            <a:r>
              <a:rPr dirty="0" sz="3600" spc="-10">
                <a:latin typeface="Trebuchet MS"/>
                <a:cs typeface="Trebuchet MS"/>
              </a:rPr>
              <a:t>optimal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9150" y="6980042"/>
            <a:ext cx="5570027" cy="227825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382121" y="7267895"/>
            <a:ext cx="363156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 spc="-25">
                <a:latin typeface="Trebuchet MS"/>
                <a:cs typeface="Trebuchet MS"/>
              </a:rPr>
              <a:t>A*: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Cost</a:t>
            </a:r>
            <a:r>
              <a:rPr dirty="0" sz="3600" spc="40">
                <a:latin typeface="Trebuchet MS"/>
                <a:cs typeface="Trebuchet MS"/>
              </a:rPr>
              <a:t> </a:t>
            </a:r>
            <a:r>
              <a:rPr dirty="0" sz="3600">
                <a:latin typeface="Trebuchet MS"/>
                <a:cs typeface="Trebuchet MS"/>
              </a:rPr>
              <a:t>+</a:t>
            </a:r>
            <a:r>
              <a:rPr dirty="0" sz="3600" spc="40">
                <a:latin typeface="Trebuchet MS"/>
                <a:cs typeface="Trebuchet MS"/>
              </a:rPr>
              <a:t> </a:t>
            </a:r>
            <a:r>
              <a:rPr dirty="0" sz="3600" spc="35">
                <a:latin typeface="Trebuchet MS"/>
                <a:cs typeface="Trebuchet MS"/>
              </a:rPr>
              <a:t>Heuristic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300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Best</a:t>
            </a:r>
            <a:r>
              <a:rPr dirty="0" sz="3600" spc="125">
                <a:latin typeface="Trebuchet MS"/>
                <a:cs typeface="Trebuchet MS"/>
              </a:rPr>
              <a:t> </a:t>
            </a:r>
            <a:r>
              <a:rPr dirty="0" sz="3600" spc="65">
                <a:latin typeface="Trebuchet MS"/>
                <a:cs typeface="Trebuchet MS"/>
              </a:rPr>
              <a:t>balance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68091" y="9886558"/>
            <a:ext cx="254127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15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1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 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60890" y="9830486"/>
            <a:ext cx="14129385" cy="74295"/>
            <a:chOff x="4160890" y="9830486"/>
            <a:chExt cx="14129385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25774" y="9830486"/>
              <a:ext cx="4590415" cy="74295"/>
            </a:xfrm>
            <a:custGeom>
              <a:avLst/>
              <a:gdLst/>
              <a:ahLst/>
              <a:cxnLst/>
              <a:rect l="l" t="t" r="r" b="b"/>
              <a:pathLst>
                <a:path w="4590415" h="74295">
                  <a:moveTo>
                    <a:pt x="0" y="73988"/>
                  </a:moveTo>
                  <a:lnTo>
                    <a:pt x="4589980" y="73988"/>
                  </a:lnTo>
                  <a:lnTo>
                    <a:pt x="4589980" y="0"/>
                  </a:lnTo>
                  <a:lnTo>
                    <a:pt x="0" y="0"/>
                  </a:lnTo>
                  <a:lnTo>
                    <a:pt x="0" y="7398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14076" y="9830486"/>
              <a:ext cx="4472940" cy="5080"/>
            </a:xfrm>
            <a:custGeom>
              <a:avLst/>
              <a:gdLst/>
              <a:ahLst/>
              <a:cxnLst/>
              <a:rect l="l" t="t" r="r" b="b"/>
              <a:pathLst>
                <a:path w="4472940" h="5079">
                  <a:moveTo>
                    <a:pt x="0" y="4750"/>
                  </a:moveTo>
                  <a:lnTo>
                    <a:pt x="4472388" y="4750"/>
                  </a:lnTo>
                  <a:lnTo>
                    <a:pt x="4472388" y="0"/>
                  </a:lnTo>
                  <a:lnTo>
                    <a:pt x="0" y="0"/>
                  </a:lnTo>
                  <a:lnTo>
                    <a:pt x="0" y="4750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60890" y="9830486"/>
              <a:ext cx="5165090" cy="74295"/>
            </a:xfrm>
            <a:custGeom>
              <a:avLst/>
              <a:gdLst/>
              <a:ahLst/>
              <a:cxnLst/>
              <a:rect l="l" t="t" r="r" b="b"/>
              <a:pathLst>
                <a:path w="5165090" h="74295">
                  <a:moveTo>
                    <a:pt x="5164883" y="73988"/>
                  </a:moveTo>
                  <a:lnTo>
                    <a:pt x="0" y="73988"/>
                  </a:lnTo>
                  <a:lnTo>
                    <a:pt x="0" y="0"/>
                  </a:lnTo>
                  <a:lnTo>
                    <a:pt x="5164883" y="0"/>
                  </a:lnTo>
                  <a:lnTo>
                    <a:pt x="5164883" y="7398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86989" y="9835236"/>
              <a:ext cx="4641850" cy="69215"/>
            </a:xfrm>
            <a:custGeom>
              <a:avLst/>
              <a:gdLst/>
              <a:ahLst/>
              <a:cxnLst/>
              <a:rect l="l" t="t" r="r" b="b"/>
              <a:pathLst>
                <a:path w="4641850" h="69215">
                  <a:moveTo>
                    <a:pt x="0" y="69214"/>
                  </a:moveTo>
                  <a:lnTo>
                    <a:pt x="4641826" y="69214"/>
                  </a:lnTo>
                  <a:lnTo>
                    <a:pt x="4641826" y="0"/>
                  </a:lnTo>
                  <a:lnTo>
                    <a:pt x="0" y="0"/>
                  </a:lnTo>
                  <a:lnTo>
                    <a:pt x="0" y="6921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28815" y="9835236"/>
              <a:ext cx="4660900" cy="69215"/>
            </a:xfrm>
            <a:custGeom>
              <a:avLst/>
              <a:gdLst/>
              <a:ahLst/>
              <a:cxnLst/>
              <a:rect l="l" t="t" r="r" b="b"/>
              <a:pathLst>
                <a:path w="4660900" h="69215">
                  <a:moveTo>
                    <a:pt x="4660889" y="69214"/>
                  </a:moveTo>
                  <a:lnTo>
                    <a:pt x="0" y="69214"/>
                  </a:lnTo>
                  <a:lnTo>
                    <a:pt x="0" y="0"/>
                  </a:lnTo>
                  <a:lnTo>
                    <a:pt x="4660889" y="0"/>
                  </a:lnTo>
                  <a:lnTo>
                    <a:pt x="4660889" y="692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5989" y="0"/>
            <a:ext cx="4390262" cy="142160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944135"/>
            <a:ext cx="14020165" cy="69215"/>
            <a:chOff x="0" y="1944135"/>
            <a:chExt cx="14020165" cy="69215"/>
          </a:xfrm>
        </p:grpSpPr>
        <p:sp>
          <p:nvSpPr>
            <p:cNvPr id="11" name="object 11" descr=""/>
            <p:cNvSpPr/>
            <p:nvPr/>
          </p:nvSpPr>
          <p:spPr>
            <a:xfrm>
              <a:off x="4717409" y="1944135"/>
              <a:ext cx="4641850" cy="69215"/>
            </a:xfrm>
            <a:custGeom>
              <a:avLst/>
              <a:gdLst/>
              <a:ahLst/>
              <a:cxnLst/>
              <a:rect l="l" t="t" r="r" b="b"/>
              <a:pathLst>
                <a:path w="4641849" h="69214">
                  <a:moveTo>
                    <a:pt x="0" y="69214"/>
                  </a:moveTo>
                  <a:lnTo>
                    <a:pt x="4641826" y="69214"/>
                  </a:lnTo>
                  <a:lnTo>
                    <a:pt x="4641826" y="0"/>
                  </a:lnTo>
                  <a:lnTo>
                    <a:pt x="0" y="0"/>
                  </a:lnTo>
                  <a:lnTo>
                    <a:pt x="0" y="6921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944135"/>
              <a:ext cx="4717415" cy="67310"/>
            </a:xfrm>
            <a:custGeom>
              <a:avLst/>
              <a:gdLst/>
              <a:ahLst/>
              <a:cxnLst/>
              <a:rect l="l" t="t" r="r" b="b"/>
              <a:pathLst>
                <a:path w="4717415" h="67310">
                  <a:moveTo>
                    <a:pt x="0" y="0"/>
                  </a:moveTo>
                  <a:lnTo>
                    <a:pt x="4717409" y="50"/>
                  </a:lnTo>
                  <a:lnTo>
                    <a:pt x="4717409" y="66725"/>
                  </a:lnTo>
                  <a:lnTo>
                    <a:pt x="0" y="66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59235" y="1944135"/>
              <a:ext cx="4660900" cy="69215"/>
            </a:xfrm>
            <a:custGeom>
              <a:avLst/>
              <a:gdLst/>
              <a:ahLst/>
              <a:cxnLst/>
              <a:rect l="l" t="t" r="r" b="b"/>
              <a:pathLst>
                <a:path w="4660900" h="69214">
                  <a:moveTo>
                    <a:pt x="4660889" y="69214"/>
                  </a:moveTo>
                  <a:lnTo>
                    <a:pt x="0" y="69214"/>
                  </a:lnTo>
                  <a:lnTo>
                    <a:pt x="0" y="0"/>
                  </a:lnTo>
                  <a:lnTo>
                    <a:pt x="4660889" y="0"/>
                  </a:lnTo>
                  <a:lnTo>
                    <a:pt x="4660889" y="692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610896" y="44878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610896" y="61165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610896" y="66595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88596" y="3674822"/>
            <a:ext cx="13336905" cy="328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H1:</a:t>
            </a:r>
            <a:r>
              <a:rPr dirty="0" sz="3600" spc="-10">
                <a:latin typeface="Times New Roman"/>
                <a:cs typeface="Times New Roman"/>
              </a:rPr>
              <a:t> Manhattan</a:t>
            </a:r>
            <a:endParaRPr sz="3600">
              <a:latin typeface="Times New Roman"/>
              <a:cs typeface="Times New Roman"/>
            </a:endParaRPr>
          </a:p>
          <a:p>
            <a:pPr marL="953769">
              <a:lnSpc>
                <a:spcPts val="4295"/>
              </a:lnSpc>
            </a:pPr>
            <a:r>
              <a:rPr dirty="0" sz="3600">
                <a:latin typeface="Times New Roman"/>
                <a:cs typeface="Times New Roman"/>
              </a:rPr>
              <a:t>Nearest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+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MST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over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+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Delivery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Cell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ts val="4300"/>
              </a:lnSpc>
            </a:pPr>
            <a:r>
              <a:rPr dirty="0" sz="3600" spc="-25">
                <a:latin typeface="Times New Roman"/>
                <a:cs typeface="Times New Roman"/>
              </a:rPr>
              <a:t>H2:</a:t>
            </a:r>
            <a:endParaRPr sz="3600">
              <a:latin typeface="Times New Roman"/>
              <a:cs typeface="Times New Roman"/>
            </a:endParaRPr>
          </a:p>
          <a:p>
            <a:pPr marL="953769" marR="5080">
              <a:lnSpc>
                <a:spcPts val="4280"/>
              </a:lnSpc>
              <a:spcBef>
                <a:spcPts val="115"/>
              </a:spcBef>
            </a:pPr>
            <a:r>
              <a:rPr dirty="0" sz="3600">
                <a:latin typeface="Times New Roman"/>
                <a:cs typeface="Times New Roman"/>
              </a:rPr>
              <a:t>Same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concept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but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Uses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Landmark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Distance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Triangle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Inequality </a:t>
            </a:r>
            <a:r>
              <a:rPr dirty="0" sz="3600">
                <a:latin typeface="Times New Roman"/>
                <a:cs typeface="Times New Roman"/>
              </a:rPr>
              <a:t>H2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reduces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node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expansions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significantly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343094" y="773483"/>
            <a:ext cx="3169920" cy="6426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75"/>
              <a:t>Heuristics</a:t>
            </a:r>
            <a:r>
              <a:rPr dirty="0" spc="-240"/>
              <a:t> </a:t>
            </a:r>
            <a:r>
              <a:rPr dirty="0" spc="-85"/>
              <a:t>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37818" y="8665812"/>
            <a:ext cx="10401300" cy="54610"/>
            <a:chOff x="5637818" y="8665812"/>
            <a:chExt cx="10401300" cy="54610"/>
          </a:xfrm>
        </p:grpSpPr>
        <p:sp>
          <p:nvSpPr>
            <p:cNvPr id="3" name="object 3" descr=""/>
            <p:cNvSpPr/>
            <p:nvPr/>
          </p:nvSpPr>
          <p:spPr>
            <a:xfrm>
              <a:off x="9440955" y="8665812"/>
              <a:ext cx="3380104" cy="54610"/>
            </a:xfrm>
            <a:custGeom>
              <a:avLst/>
              <a:gdLst/>
              <a:ahLst/>
              <a:cxnLst/>
              <a:rect l="l" t="t" r="r" b="b"/>
              <a:pathLst>
                <a:path w="3380104" h="54609">
                  <a:moveTo>
                    <a:pt x="0" y="54506"/>
                  </a:moveTo>
                  <a:lnTo>
                    <a:pt x="3379810" y="54506"/>
                  </a:lnTo>
                  <a:lnTo>
                    <a:pt x="3379810" y="0"/>
                  </a:lnTo>
                  <a:lnTo>
                    <a:pt x="0" y="0"/>
                  </a:lnTo>
                  <a:lnTo>
                    <a:pt x="0" y="5450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745896" y="8665812"/>
              <a:ext cx="3293745" cy="51435"/>
            </a:xfrm>
            <a:custGeom>
              <a:avLst/>
              <a:gdLst/>
              <a:ahLst/>
              <a:cxnLst/>
              <a:rect l="l" t="t" r="r" b="b"/>
              <a:pathLst>
                <a:path w="3293744" h="51434">
                  <a:moveTo>
                    <a:pt x="3293221" y="50989"/>
                  </a:moveTo>
                  <a:lnTo>
                    <a:pt x="0" y="50989"/>
                  </a:lnTo>
                  <a:lnTo>
                    <a:pt x="0" y="0"/>
                  </a:lnTo>
                  <a:lnTo>
                    <a:pt x="3293221" y="0"/>
                  </a:lnTo>
                  <a:lnTo>
                    <a:pt x="3293221" y="50989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637818" y="8665812"/>
              <a:ext cx="3803650" cy="54610"/>
            </a:xfrm>
            <a:custGeom>
              <a:avLst/>
              <a:gdLst/>
              <a:ahLst/>
              <a:cxnLst/>
              <a:rect l="l" t="t" r="r" b="b"/>
              <a:pathLst>
                <a:path w="3803650" h="54609">
                  <a:moveTo>
                    <a:pt x="3803137" y="54506"/>
                  </a:moveTo>
                  <a:lnTo>
                    <a:pt x="0" y="54506"/>
                  </a:lnTo>
                  <a:lnTo>
                    <a:pt x="0" y="0"/>
                  </a:lnTo>
                  <a:lnTo>
                    <a:pt x="3803137" y="0"/>
                  </a:lnTo>
                  <a:lnTo>
                    <a:pt x="3803137" y="54506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89422" y="8669378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0313" y="8669334"/>
              <a:ext cx="3479165" cy="48260"/>
            </a:xfrm>
            <a:custGeom>
              <a:avLst/>
              <a:gdLst/>
              <a:ahLst/>
              <a:cxnLst/>
              <a:rect l="l" t="t" r="r" b="b"/>
              <a:pathLst>
                <a:path w="3479165" h="48259">
                  <a:moveTo>
                    <a:pt x="3479109" y="44"/>
                  </a:moveTo>
                  <a:lnTo>
                    <a:pt x="3479109" y="47669"/>
                  </a:lnTo>
                  <a:lnTo>
                    <a:pt x="0" y="47669"/>
                  </a:lnTo>
                  <a:lnTo>
                    <a:pt x="0" y="0"/>
                  </a:lnTo>
                  <a:lnTo>
                    <a:pt x="3479109" y="44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605403" y="8669378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69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567673" y="2861119"/>
            <a:ext cx="10325100" cy="47625"/>
            <a:chOff x="2567673" y="2861119"/>
            <a:chExt cx="10325100" cy="47625"/>
          </a:xfrm>
        </p:grpSpPr>
        <p:sp>
          <p:nvSpPr>
            <p:cNvPr id="10" name="object 10" descr=""/>
            <p:cNvSpPr/>
            <p:nvPr/>
          </p:nvSpPr>
          <p:spPr>
            <a:xfrm>
              <a:off x="6046782" y="2861119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67673" y="2861119"/>
              <a:ext cx="3479165" cy="47625"/>
            </a:xfrm>
            <a:custGeom>
              <a:avLst/>
              <a:gdLst/>
              <a:ahLst/>
              <a:cxnLst/>
              <a:rect l="l" t="t" r="r" b="b"/>
              <a:pathLst>
                <a:path w="3479165" h="47625">
                  <a:moveTo>
                    <a:pt x="3479109" y="0"/>
                  </a:moveTo>
                  <a:lnTo>
                    <a:pt x="3479109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479109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462763" y="2861119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745981" y="1907054"/>
            <a:ext cx="38569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5"/>
              <a:t> </a:t>
            </a:r>
            <a:r>
              <a:rPr dirty="0" spc="-130"/>
              <a:t>BFS</a:t>
            </a:r>
            <a:r>
              <a:rPr dirty="0" spc="-325"/>
              <a:t> </a:t>
            </a:r>
            <a:r>
              <a:rPr dirty="0" spc="-85"/>
              <a:t>vs</a:t>
            </a:r>
            <a:r>
              <a:rPr dirty="0" spc="-325"/>
              <a:t> </a:t>
            </a:r>
            <a:r>
              <a:rPr dirty="0" spc="-80"/>
              <a:t>UCS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8565" y="3018599"/>
            <a:ext cx="11274650" cy="262439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8290" y="5928545"/>
            <a:ext cx="11274925" cy="24764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106631" y="8693225"/>
            <a:ext cx="1875155" cy="21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0F1140"/>
                </a:solidFill>
                <a:latin typeface="Arial"/>
                <a:cs typeface="Arial"/>
              </a:rPr>
              <a:t>BITS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200" spc="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200" spc="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065650" y="3566848"/>
            <a:ext cx="1671320" cy="14420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29"/>
              </a:spcBef>
            </a:pPr>
            <a:r>
              <a:rPr dirty="0" sz="2350" spc="-10" b="1">
                <a:latin typeface="Times New Roman"/>
                <a:cs typeface="Times New Roman"/>
              </a:rPr>
              <a:t>OUTPUT </a:t>
            </a:r>
            <a:r>
              <a:rPr dirty="0" sz="2350" spc="-25" b="1">
                <a:latin typeface="Times New Roman"/>
                <a:cs typeface="Times New Roman"/>
              </a:rPr>
              <a:t>ON </a:t>
            </a:r>
            <a:r>
              <a:rPr dirty="0" sz="2350" spc="-10" b="1">
                <a:latin typeface="Times New Roman"/>
                <a:cs typeface="Times New Roman"/>
              </a:rPr>
              <a:t>TERMINAL </a:t>
            </a:r>
            <a:r>
              <a:rPr dirty="0" sz="2350" b="1">
                <a:latin typeface="Times New Roman"/>
                <a:cs typeface="Times New Roman"/>
              </a:rPr>
              <a:t>FOR</a:t>
            </a:r>
            <a:r>
              <a:rPr dirty="0" sz="2350" spc="-10" b="1">
                <a:latin typeface="Times New Roman"/>
                <a:cs typeface="Times New Roman"/>
              </a:rPr>
              <a:t> </a:t>
            </a:r>
            <a:r>
              <a:rPr dirty="0" sz="2350" spc="-25" b="1">
                <a:latin typeface="Times New Roman"/>
                <a:cs typeface="Times New Roman"/>
              </a:rPr>
              <a:t>BFS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104864" y="7062066"/>
            <a:ext cx="2269490" cy="1089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795"/>
              </a:lnSpc>
              <a:spcBef>
                <a:spcPts val="105"/>
              </a:spcBef>
            </a:pPr>
            <a:r>
              <a:rPr dirty="0" sz="2350" spc="-10" b="1">
                <a:latin typeface="Times New Roman"/>
                <a:cs typeface="Times New Roman"/>
              </a:rPr>
              <a:t>OUTPUT</a:t>
            </a:r>
            <a:endParaRPr sz="2350">
              <a:latin typeface="Times New Roman"/>
              <a:cs typeface="Times New Roman"/>
            </a:endParaRPr>
          </a:p>
          <a:p>
            <a:pPr marL="12700" marR="5080" indent="74295">
              <a:lnSpc>
                <a:spcPts val="2780"/>
              </a:lnSpc>
              <a:spcBef>
                <a:spcPts val="105"/>
              </a:spcBef>
            </a:pPr>
            <a:r>
              <a:rPr dirty="0" sz="2350" b="1">
                <a:latin typeface="Times New Roman"/>
                <a:cs typeface="Times New Roman"/>
              </a:rPr>
              <a:t>ON</a:t>
            </a:r>
            <a:r>
              <a:rPr dirty="0" sz="2350" spc="-5" b="1">
                <a:latin typeface="Times New Roman"/>
                <a:cs typeface="Times New Roman"/>
              </a:rPr>
              <a:t> </a:t>
            </a:r>
            <a:r>
              <a:rPr dirty="0" sz="2350" spc="-10" b="1">
                <a:latin typeface="Times New Roman"/>
                <a:cs typeface="Times New Roman"/>
              </a:rPr>
              <a:t>TERMINAL </a:t>
            </a:r>
            <a:r>
              <a:rPr dirty="0" sz="2350" b="1">
                <a:latin typeface="Times New Roman"/>
                <a:cs typeface="Times New Roman"/>
              </a:rPr>
              <a:t>FOR</a:t>
            </a:r>
            <a:r>
              <a:rPr dirty="0" sz="2350" spc="-10" b="1">
                <a:latin typeface="Times New Roman"/>
                <a:cs typeface="Times New Roman"/>
              </a:rPr>
              <a:t> </a:t>
            </a:r>
            <a:r>
              <a:rPr dirty="0" sz="2350" spc="-25" b="1">
                <a:latin typeface="Times New Roman"/>
                <a:cs typeface="Times New Roman"/>
              </a:rPr>
              <a:t>UCS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412581" y="8654587"/>
            <a:ext cx="10591800" cy="55880"/>
            <a:chOff x="5412581" y="8654587"/>
            <a:chExt cx="10591800" cy="55880"/>
          </a:xfrm>
        </p:grpSpPr>
        <p:sp>
          <p:nvSpPr>
            <p:cNvPr id="3" name="object 3" descr=""/>
            <p:cNvSpPr/>
            <p:nvPr/>
          </p:nvSpPr>
          <p:spPr>
            <a:xfrm>
              <a:off x="9285373" y="8654587"/>
              <a:ext cx="3442335" cy="55880"/>
            </a:xfrm>
            <a:custGeom>
              <a:avLst/>
              <a:gdLst/>
              <a:ahLst/>
              <a:cxnLst/>
              <a:rect l="l" t="t" r="r" b="b"/>
              <a:pathLst>
                <a:path w="3442334" h="55879">
                  <a:moveTo>
                    <a:pt x="0" y="55508"/>
                  </a:moveTo>
                  <a:lnTo>
                    <a:pt x="3441711" y="55508"/>
                  </a:lnTo>
                  <a:lnTo>
                    <a:pt x="3441711" y="0"/>
                  </a:lnTo>
                  <a:lnTo>
                    <a:pt x="0" y="0"/>
                  </a:lnTo>
                  <a:lnTo>
                    <a:pt x="0" y="5550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0843" y="8654587"/>
              <a:ext cx="3354070" cy="52069"/>
            </a:xfrm>
            <a:custGeom>
              <a:avLst/>
              <a:gdLst/>
              <a:ahLst/>
              <a:cxnLst/>
              <a:rect l="l" t="t" r="r" b="b"/>
              <a:pathLst>
                <a:path w="3354069" h="52070">
                  <a:moveTo>
                    <a:pt x="3353537" y="51927"/>
                  </a:moveTo>
                  <a:lnTo>
                    <a:pt x="0" y="51927"/>
                  </a:lnTo>
                  <a:lnTo>
                    <a:pt x="0" y="0"/>
                  </a:lnTo>
                  <a:lnTo>
                    <a:pt x="3353537" y="0"/>
                  </a:lnTo>
                  <a:lnTo>
                    <a:pt x="3353537" y="51927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12581" y="8654587"/>
              <a:ext cx="3872865" cy="55880"/>
            </a:xfrm>
            <a:custGeom>
              <a:avLst/>
              <a:gdLst/>
              <a:ahLst/>
              <a:cxnLst/>
              <a:rect l="l" t="t" r="r" b="b"/>
              <a:pathLst>
                <a:path w="3872865" h="55879">
                  <a:moveTo>
                    <a:pt x="3872791" y="55508"/>
                  </a:moveTo>
                  <a:lnTo>
                    <a:pt x="0" y="55508"/>
                  </a:lnTo>
                  <a:lnTo>
                    <a:pt x="0" y="0"/>
                  </a:lnTo>
                  <a:lnTo>
                    <a:pt x="3872791" y="0"/>
                  </a:lnTo>
                  <a:lnTo>
                    <a:pt x="3872791" y="5550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29700" y="8658224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86400" y="8658224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508706" y="8658224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712719" y="2641101"/>
            <a:ext cx="10515600" cy="47625"/>
            <a:chOff x="2712719" y="2641101"/>
            <a:chExt cx="10515600" cy="47625"/>
          </a:xfrm>
        </p:grpSpPr>
        <p:sp>
          <p:nvSpPr>
            <p:cNvPr id="10" name="object 10" descr=""/>
            <p:cNvSpPr/>
            <p:nvPr/>
          </p:nvSpPr>
          <p:spPr>
            <a:xfrm>
              <a:off x="6256019" y="2641101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712719" y="2641101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735025" y="2641101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044800" y="1674710"/>
            <a:ext cx="288417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5"/>
              <a:t>Greedy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157" y="2752725"/>
            <a:ext cx="11651712" cy="25526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8404" y="5779587"/>
            <a:ext cx="11640465" cy="24764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035602" y="8685234"/>
            <a:ext cx="1910714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200" spc="7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200" spc="7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200" spc="7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505828" y="3051536"/>
            <a:ext cx="1829435" cy="453580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38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131445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42077" y="8685234"/>
            <a:ext cx="104139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50">
                <a:solidFill>
                  <a:srgbClr val="0F1140"/>
                </a:solidFill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9754" y="6249539"/>
            <a:ext cx="13976985" cy="2572385"/>
            <a:chOff x="1629754" y="6249539"/>
            <a:chExt cx="13976985" cy="2572385"/>
          </a:xfrm>
        </p:grpSpPr>
        <p:sp>
          <p:nvSpPr>
            <p:cNvPr id="4" name="object 4" descr=""/>
            <p:cNvSpPr/>
            <p:nvPr/>
          </p:nvSpPr>
          <p:spPr>
            <a:xfrm>
              <a:off x="8887332" y="8765962"/>
              <a:ext cx="3442335" cy="55880"/>
            </a:xfrm>
            <a:custGeom>
              <a:avLst/>
              <a:gdLst/>
              <a:ahLst/>
              <a:cxnLst/>
              <a:rect l="l" t="t" r="r" b="b"/>
              <a:pathLst>
                <a:path w="3442334" h="55879">
                  <a:moveTo>
                    <a:pt x="0" y="55508"/>
                  </a:moveTo>
                  <a:lnTo>
                    <a:pt x="3441711" y="55508"/>
                  </a:lnTo>
                  <a:lnTo>
                    <a:pt x="3441711" y="0"/>
                  </a:lnTo>
                  <a:lnTo>
                    <a:pt x="0" y="0"/>
                  </a:lnTo>
                  <a:lnTo>
                    <a:pt x="0" y="5550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52802" y="8765962"/>
              <a:ext cx="3354070" cy="52069"/>
            </a:xfrm>
            <a:custGeom>
              <a:avLst/>
              <a:gdLst/>
              <a:ahLst/>
              <a:cxnLst/>
              <a:rect l="l" t="t" r="r" b="b"/>
              <a:pathLst>
                <a:path w="3354069" h="52070">
                  <a:moveTo>
                    <a:pt x="3353537" y="51927"/>
                  </a:moveTo>
                  <a:lnTo>
                    <a:pt x="0" y="51927"/>
                  </a:lnTo>
                  <a:lnTo>
                    <a:pt x="0" y="0"/>
                  </a:lnTo>
                  <a:lnTo>
                    <a:pt x="3353537" y="0"/>
                  </a:lnTo>
                  <a:lnTo>
                    <a:pt x="3353537" y="51927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14540" y="8765962"/>
              <a:ext cx="3872865" cy="55880"/>
            </a:xfrm>
            <a:custGeom>
              <a:avLst/>
              <a:gdLst/>
              <a:ahLst/>
              <a:cxnLst/>
              <a:rect l="l" t="t" r="r" b="b"/>
              <a:pathLst>
                <a:path w="3872865" h="55879">
                  <a:moveTo>
                    <a:pt x="3872791" y="55508"/>
                  </a:moveTo>
                  <a:lnTo>
                    <a:pt x="0" y="55508"/>
                  </a:lnTo>
                  <a:lnTo>
                    <a:pt x="0" y="0"/>
                  </a:lnTo>
                  <a:lnTo>
                    <a:pt x="3872791" y="0"/>
                  </a:lnTo>
                  <a:lnTo>
                    <a:pt x="3872791" y="5550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31659" y="876959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8359" y="876959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110665" y="876959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9754" y="6249539"/>
              <a:ext cx="11285745" cy="247649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2285999" y="2743200"/>
            <a:ext cx="10515600" cy="47625"/>
            <a:chOff x="2285999" y="2743200"/>
            <a:chExt cx="10515600" cy="47625"/>
          </a:xfrm>
        </p:grpSpPr>
        <p:sp>
          <p:nvSpPr>
            <p:cNvPr id="12" name="object 12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501851" y="1786334"/>
            <a:ext cx="196977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50"/>
              <a:t>A*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436" y="3359683"/>
            <a:ext cx="11264063" cy="251459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3794739" y="3466845"/>
            <a:ext cx="3582035" cy="11150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88265" marR="5080" indent="-7620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794739" y="6639040"/>
            <a:ext cx="3582035" cy="11150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88265" marR="5080" indent="-7620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5999" y="2743200"/>
            <a:ext cx="10515600" cy="47625"/>
            <a:chOff x="2285999" y="2743200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79662" y="1786334"/>
            <a:ext cx="461391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20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0"/>
              <a:t>BFS</a:t>
            </a:r>
            <a:r>
              <a:rPr dirty="0" spc="-320"/>
              <a:t> </a:t>
            </a:r>
            <a:r>
              <a:rPr dirty="0" spc="-85"/>
              <a:t>vs</a:t>
            </a:r>
            <a:r>
              <a:rPr dirty="0" spc="-320"/>
              <a:t> </a:t>
            </a:r>
            <a:r>
              <a:rPr dirty="0" spc="-50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199185"/>
            <a:ext cx="13001624" cy="30384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846569"/>
            <a:ext cx="13001624" cy="33813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80539" y="3436683"/>
            <a:ext cx="2260600" cy="197040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195"/>
              </a:spcBef>
            </a:pPr>
            <a:r>
              <a:rPr dirty="0" sz="3200" spc="-10" b="1">
                <a:latin typeface="Times New Roman"/>
                <a:cs typeface="Times New Roman"/>
              </a:rPr>
              <a:t>OUTPUT </a:t>
            </a:r>
            <a:r>
              <a:rPr dirty="0" sz="3200" spc="-25" b="1">
                <a:latin typeface="Times New Roman"/>
                <a:cs typeface="Times New Roman"/>
              </a:rPr>
              <a:t>ON </a:t>
            </a:r>
            <a:r>
              <a:rPr dirty="0" sz="3200" spc="-10" b="1">
                <a:latin typeface="Times New Roman"/>
                <a:cs typeface="Times New Roman"/>
              </a:rPr>
              <a:t>TERMINAL </a:t>
            </a:r>
            <a:r>
              <a:rPr dirty="0" sz="3200" b="1">
                <a:latin typeface="Times New Roman"/>
                <a:cs typeface="Times New Roman"/>
              </a:rPr>
              <a:t>FOR</a:t>
            </a:r>
            <a:r>
              <a:rPr dirty="0" sz="3200" spc="-40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BFS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632939" y="6792708"/>
            <a:ext cx="1901825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4"/>
              </a:spcBef>
            </a:pPr>
            <a:r>
              <a:rPr dirty="0" sz="2800" spc="-10" b="1">
                <a:latin typeface="Times New Roman"/>
                <a:cs typeface="Times New Roman"/>
              </a:rPr>
              <a:t>OUTPUT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 </a:t>
            </a:r>
            <a:r>
              <a:rPr dirty="0" sz="2800" b="1">
                <a:latin typeface="Times New Roman"/>
                <a:cs typeface="Times New Roman"/>
              </a:rPr>
              <a:t>L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UCS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23850" y="2743200"/>
            <a:ext cx="13668375" cy="3441065"/>
            <a:chOff x="323850" y="2743200"/>
            <a:chExt cx="13668375" cy="3441065"/>
          </a:xfrm>
        </p:grpSpPr>
        <p:sp>
          <p:nvSpPr>
            <p:cNvPr id="3" name="object 3" descr=""/>
            <p:cNvSpPr/>
            <p:nvPr/>
          </p:nvSpPr>
          <p:spPr>
            <a:xfrm>
              <a:off x="5829300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2831192"/>
              <a:ext cx="13668374" cy="33527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23480" y="1607264"/>
            <a:ext cx="36410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15"/>
              <a:t> </a:t>
            </a:r>
            <a:r>
              <a:rPr dirty="0" spc="-20"/>
              <a:t>-</a:t>
            </a:r>
            <a:r>
              <a:rPr dirty="0" spc="-310"/>
              <a:t> </a:t>
            </a:r>
            <a:r>
              <a:rPr dirty="0" spc="-120"/>
              <a:t>Greedy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6633297"/>
            <a:ext cx="13668374" cy="32289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318739" y="2799505"/>
            <a:ext cx="1829435" cy="18389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318739" y="6519608"/>
            <a:ext cx="1829435" cy="18389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887" y="2743200"/>
            <a:ext cx="14439900" cy="3481070"/>
            <a:chOff x="316887" y="2743200"/>
            <a:chExt cx="14439900" cy="3481070"/>
          </a:xfrm>
        </p:grpSpPr>
        <p:sp>
          <p:nvSpPr>
            <p:cNvPr id="3" name="object 3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5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87" y="2794996"/>
              <a:ext cx="14439899" cy="3428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23382" y="1786334"/>
            <a:ext cx="27266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15"/>
              <a:t> </a:t>
            </a:r>
            <a:r>
              <a:rPr dirty="0" spc="-20"/>
              <a:t>-</a:t>
            </a:r>
            <a:r>
              <a:rPr dirty="0" spc="-310"/>
              <a:t> </a:t>
            </a:r>
            <a:r>
              <a:rPr dirty="0" spc="-25"/>
              <a:t>A*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887" y="6560124"/>
            <a:ext cx="14439899" cy="34480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004539" y="3547627"/>
            <a:ext cx="1702435" cy="22009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11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5080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267335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USING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56939" y="6824408"/>
            <a:ext cx="1702435" cy="22009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11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5080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267335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USING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11779" y="1502549"/>
            <a:ext cx="10515600" cy="47625"/>
            <a:chOff x="2811779" y="1502549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6355079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11779" y="150254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34086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83961" y="783942"/>
            <a:ext cx="39712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5"/>
              <a:t> </a:t>
            </a:r>
            <a:r>
              <a:rPr dirty="0" spc="-130"/>
              <a:t>BFS</a:t>
            </a:r>
            <a:r>
              <a:rPr dirty="0" spc="-325"/>
              <a:t> </a:t>
            </a:r>
            <a:r>
              <a:rPr dirty="0" spc="-85"/>
              <a:t>vs</a:t>
            </a:r>
            <a:r>
              <a:rPr dirty="0" spc="-325"/>
              <a:t> </a:t>
            </a:r>
            <a:r>
              <a:rPr dirty="0" spc="-70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00" y="5642019"/>
            <a:ext cx="13219080" cy="42737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03" y="1804216"/>
            <a:ext cx="13228862" cy="358797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04339" y="22142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BFS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709139" y="58718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UCS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2200" y="1584883"/>
            <a:ext cx="10515600" cy="47625"/>
            <a:chOff x="2362200" y="1584883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905500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362200" y="1584883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84506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81370" y="548484"/>
            <a:ext cx="299783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0"/>
              <a:t>Greedy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747" y="1899161"/>
            <a:ext cx="12381481" cy="39054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47" y="5923511"/>
            <a:ext cx="12383865" cy="424834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642339" y="2708388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70939" y="6259309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14499" y="1481976"/>
            <a:ext cx="10515600" cy="47625"/>
            <a:chOff x="1714499" y="1481976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257799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14499" y="1481976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36806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4818" y="572496"/>
            <a:ext cx="216979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/>
              <a:t>–</a:t>
            </a:r>
            <a:r>
              <a:rPr dirty="0" spc="-325"/>
              <a:t> </a:t>
            </a:r>
            <a:r>
              <a:rPr dirty="0" spc="-50"/>
              <a:t>A*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87" y="5905500"/>
            <a:ext cx="13856303" cy="372132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887" y="1820884"/>
            <a:ext cx="13856303" cy="387372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09139" y="2068309"/>
            <a:ext cx="2217420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9398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A*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37739" y="6214808"/>
            <a:ext cx="190563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812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11779" y="1502549"/>
            <a:ext cx="10515600" cy="47625"/>
            <a:chOff x="2811779" y="1502549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6355079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11779" y="150254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34086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44658" y="783942"/>
            <a:ext cx="424942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Energy-</a:t>
            </a:r>
            <a:r>
              <a:rPr dirty="0" spc="-315"/>
              <a:t> </a:t>
            </a:r>
            <a:r>
              <a:rPr dirty="0" spc="-130"/>
              <a:t>BFS</a:t>
            </a:r>
            <a:r>
              <a:rPr dirty="0" spc="-315"/>
              <a:t> </a:t>
            </a:r>
            <a:r>
              <a:rPr dirty="0" spc="-85"/>
              <a:t>vs</a:t>
            </a:r>
            <a:r>
              <a:rPr dirty="0" spc="-315"/>
              <a:t> </a:t>
            </a:r>
            <a:r>
              <a:rPr dirty="0" spc="-65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603" y="2145477"/>
            <a:ext cx="13055487" cy="290543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03" y="5306538"/>
            <a:ext cx="13058774" cy="29432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04339" y="22142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BFS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709139" y="58718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UCS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2200" y="1584883"/>
            <a:ext cx="10515600" cy="47625"/>
            <a:chOff x="2362200" y="1584883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905500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362200" y="1584883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84506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3064" y="548484"/>
            <a:ext cx="303403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Energy-</a:t>
            </a:r>
            <a:r>
              <a:rPr dirty="0" spc="-290"/>
              <a:t> </a:t>
            </a:r>
            <a:r>
              <a:rPr dirty="0" spc="-105"/>
              <a:t>GBFS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939" y="2435975"/>
            <a:ext cx="11296649" cy="25526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939" y="5962968"/>
            <a:ext cx="11296649" cy="2447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642339" y="2708388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70939" y="6259309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14499" y="1481976"/>
            <a:ext cx="10515600" cy="47625"/>
            <a:chOff x="1714499" y="1481976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257799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14499" y="1481976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36806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45515" y="601071"/>
            <a:ext cx="244792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Energy–</a:t>
            </a:r>
            <a:r>
              <a:rPr dirty="0" spc="-280"/>
              <a:t> </a:t>
            </a:r>
            <a:r>
              <a:rPr dirty="0" spc="-40"/>
              <a:t>A*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850" y="2434118"/>
            <a:ext cx="11296650" cy="25717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8850" y="5910029"/>
            <a:ext cx="11296650" cy="24574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09139" y="2068309"/>
            <a:ext cx="2217420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9398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A*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37739" y="6214808"/>
            <a:ext cx="190563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812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98012" y="9924944"/>
            <a:ext cx="25469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25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2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2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49337" y="9869091"/>
            <a:ext cx="14138910" cy="74295"/>
            <a:chOff x="4149337" y="9869091"/>
            <a:chExt cx="14138910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31634" y="9869091"/>
              <a:ext cx="4605655" cy="74295"/>
            </a:xfrm>
            <a:custGeom>
              <a:avLst/>
              <a:gdLst/>
              <a:ahLst/>
              <a:cxnLst/>
              <a:rect l="l" t="t" r="r" b="b"/>
              <a:pathLst>
                <a:path w="4605655" h="74295">
                  <a:moveTo>
                    <a:pt x="0" y="74235"/>
                  </a:moveTo>
                  <a:lnTo>
                    <a:pt x="4605455" y="74235"/>
                  </a:lnTo>
                  <a:lnTo>
                    <a:pt x="4605455" y="0"/>
                  </a:lnTo>
                  <a:lnTo>
                    <a:pt x="0" y="0"/>
                  </a:lnTo>
                  <a:lnTo>
                    <a:pt x="0" y="74235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35068" y="9869091"/>
              <a:ext cx="4453255" cy="5080"/>
            </a:xfrm>
            <a:custGeom>
              <a:avLst/>
              <a:gdLst/>
              <a:ahLst/>
              <a:cxnLst/>
              <a:rect l="l" t="t" r="r" b="b"/>
              <a:pathLst>
                <a:path w="4453255" h="5079">
                  <a:moveTo>
                    <a:pt x="0" y="4766"/>
                  </a:moveTo>
                  <a:lnTo>
                    <a:pt x="4452931" y="4766"/>
                  </a:lnTo>
                  <a:lnTo>
                    <a:pt x="4452931" y="0"/>
                  </a:lnTo>
                  <a:lnTo>
                    <a:pt x="0" y="0"/>
                  </a:lnTo>
                  <a:lnTo>
                    <a:pt x="0" y="4766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49337" y="9869091"/>
              <a:ext cx="5182870" cy="74295"/>
            </a:xfrm>
            <a:custGeom>
              <a:avLst/>
              <a:gdLst/>
              <a:ahLst/>
              <a:cxnLst/>
              <a:rect l="l" t="t" r="r" b="b"/>
              <a:pathLst>
                <a:path w="5182870" h="74295">
                  <a:moveTo>
                    <a:pt x="5182296" y="74235"/>
                  </a:moveTo>
                  <a:lnTo>
                    <a:pt x="0" y="74235"/>
                  </a:lnTo>
                  <a:lnTo>
                    <a:pt x="0" y="0"/>
                  </a:lnTo>
                  <a:lnTo>
                    <a:pt x="5182296" y="0"/>
                  </a:lnTo>
                  <a:lnTo>
                    <a:pt x="5182296" y="74235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91807" y="9873909"/>
              <a:ext cx="4657725" cy="66675"/>
            </a:xfrm>
            <a:custGeom>
              <a:avLst/>
              <a:gdLst/>
              <a:ahLst/>
              <a:cxnLst/>
              <a:rect l="l" t="t" r="r" b="b"/>
              <a:pathLst>
                <a:path w="4657725" h="66675">
                  <a:moveTo>
                    <a:pt x="0" y="66674"/>
                  </a:moveTo>
                  <a:lnTo>
                    <a:pt x="4657583" y="66674"/>
                  </a:lnTo>
                  <a:lnTo>
                    <a:pt x="4657583" y="0"/>
                  </a:lnTo>
                  <a:lnTo>
                    <a:pt x="0" y="0"/>
                  </a:lnTo>
                  <a:lnTo>
                    <a:pt x="0" y="6667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49390" y="9873857"/>
              <a:ext cx="4638675" cy="67310"/>
            </a:xfrm>
            <a:custGeom>
              <a:avLst/>
              <a:gdLst/>
              <a:ahLst/>
              <a:cxnLst/>
              <a:rect l="l" t="t" r="r" b="b"/>
              <a:pathLst>
                <a:path w="4638675" h="67309">
                  <a:moveTo>
                    <a:pt x="0" y="66726"/>
                  </a:moveTo>
                  <a:lnTo>
                    <a:pt x="0" y="17"/>
                  </a:lnTo>
                  <a:lnTo>
                    <a:pt x="4638608" y="0"/>
                  </a:lnTo>
                  <a:lnTo>
                    <a:pt x="4638608" y="66726"/>
                  </a:lnTo>
                  <a:lnTo>
                    <a:pt x="0" y="667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868" y="5715"/>
            <a:ext cx="4405026" cy="104232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956354"/>
            <a:ext cx="14042390" cy="67310"/>
            <a:chOff x="0" y="1956354"/>
            <a:chExt cx="14042390" cy="67310"/>
          </a:xfrm>
        </p:grpSpPr>
        <p:sp>
          <p:nvSpPr>
            <p:cNvPr id="11" name="object 11" descr=""/>
            <p:cNvSpPr/>
            <p:nvPr/>
          </p:nvSpPr>
          <p:spPr>
            <a:xfrm>
              <a:off x="4707943" y="1956406"/>
              <a:ext cx="4657725" cy="66675"/>
            </a:xfrm>
            <a:custGeom>
              <a:avLst/>
              <a:gdLst/>
              <a:ahLst/>
              <a:cxnLst/>
              <a:rect l="l" t="t" r="r" b="b"/>
              <a:pathLst>
                <a:path w="4657725" h="66675">
                  <a:moveTo>
                    <a:pt x="0" y="66674"/>
                  </a:moveTo>
                  <a:lnTo>
                    <a:pt x="4657582" y="66674"/>
                  </a:lnTo>
                  <a:lnTo>
                    <a:pt x="4657582" y="0"/>
                  </a:lnTo>
                  <a:lnTo>
                    <a:pt x="0" y="0"/>
                  </a:lnTo>
                  <a:lnTo>
                    <a:pt x="0" y="6667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956354"/>
              <a:ext cx="4708525" cy="67310"/>
            </a:xfrm>
            <a:custGeom>
              <a:avLst/>
              <a:gdLst/>
              <a:ahLst/>
              <a:cxnLst/>
              <a:rect l="l" t="t" r="r" b="b"/>
              <a:pathLst>
                <a:path w="4708525" h="67310">
                  <a:moveTo>
                    <a:pt x="0" y="0"/>
                  </a:moveTo>
                  <a:lnTo>
                    <a:pt x="4707943" y="17"/>
                  </a:lnTo>
                  <a:lnTo>
                    <a:pt x="4707943" y="66727"/>
                  </a:lnTo>
                  <a:lnTo>
                    <a:pt x="0" y="66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65526" y="1956406"/>
              <a:ext cx="4676775" cy="66675"/>
            </a:xfrm>
            <a:custGeom>
              <a:avLst/>
              <a:gdLst/>
              <a:ahLst/>
              <a:cxnLst/>
              <a:rect l="l" t="t" r="r" b="b"/>
              <a:pathLst>
                <a:path w="4676775" h="66675">
                  <a:moveTo>
                    <a:pt x="4676710" y="66674"/>
                  </a:moveTo>
                  <a:lnTo>
                    <a:pt x="0" y="66674"/>
                  </a:lnTo>
                  <a:lnTo>
                    <a:pt x="0" y="0"/>
                  </a:lnTo>
                  <a:lnTo>
                    <a:pt x="4676710" y="0"/>
                  </a:lnTo>
                  <a:lnTo>
                    <a:pt x="4676710" y="666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185862" y="3735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830" rIns="0" bIns="0" rtlCol="0" vert="horz">
            <a:spAutoFit/>
          </a:bodyPr>
          <a:lstStyle/>
          <a:p>
            <a:pPr marL="127000" marR="1495425">
              <a:lnSpc>
                <a:spcPts val="4280"/>
              </a:lnSpc>
              <a:spcBef>
                <a:spcPts val="290"/>
              </a:spcBef>
            </a:pPr>
            <a:r>
              <a:rPr dirty="0"/>
              <a:t>BFS/UCS</a:t>
            </a:r>
            <a:r>
              <a:rPr dirty="0" spc="-30"/>
              <a:t> </a:t>
            </a:r>
            <a:r>
              <a:rPr dirty="0"/>
              <a:t>expand</a:t>
            </a:r>
            <a:r>
              <a:rPr dirty="0" spc="-20"/>
              <a:t> </a:t>
            </a:r>
            <a:r>
              <a:rPr dirty="0"/>
              <a:t>many</a:t>
            </a:r>
            <a:r>
              <a:rPr dirty="0" spc="-20"/>
              <a:t> </a:t>
            </a:r>
            <a:r>
              <a:rPr dirty="0"/>
              <a:t>nodes</a:t>
            </a:r>
            <a:r>
              <a:rPr dirty="0" spc="-20"/>
              <a:t> </a:t>
            </a:r>
            <a:r>
              <a:rPr dirty="0"/>
              <a:t>(as</a:t>
            </a:r>
            <a:r>
              <a:rPr dirty="0" spc="-20"/>
              <a:t> </a:t>
            </a:r>
            <a:r>
              <a:rPr dirty="0" spc="-10"/>
              <a:t>predicted) </a:t>
            </a:r>
            <a:r>
              <a:rPr dirty="0"/>
              <a:t>Greedy</a:t>
            </a:r>
            <a:r>
              <a:rPr dirty="0" spc="-25"/>
              <a:t> </a:t>
            </a:r>
            <a:r>
              <a:rPr dirty="0"/>
              <a:t>reduces</a:t>
            </a:r>
            <a:r>
              <a:rPr dirty="0" spc="-25"/>
              <a:t> </a:t>
            </a:r>
            <a:r>
              <a:rPr dirty="0"/>
              <a:t>expansion</a:t>
            </a:r>
            <a:r>
              <a:rPr dirty="0" spc="-20"/>
              <a:t> </a:t>
            </a:r>
            <a:r>
              <a:rPr dirty="0"/>
              <a:t>but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always</a:t>
            </a:r>
            <a:r>
              <a:rPr dirty="0" spc="-20"/>
              <a:t> </a:t>
            </a:r>
            <a:r>
              <a:rPr dirty="0" spc="-10"/>
              <a:t>optimal </a:t>
            </a:r>
            <a:r>
              <a:rPr dirty="0"/>
              <a:t>A*</a:t>
            </a:r>
            <a:r>
              <a:rPr dirty="0" spc="-30"/>
              <a:t> </a:t>
            </a:r>
            <a:r>
              <a:rPr dirty="0"/>
              <a:t>best</a:t>
            </a:r>
            <a:r>
              <a:rPr dirty="0" spc="-20"/>
              <a:t> </a:t>
            </a:r>
            <a:r>
              <a:rPr dirty="0"/>
              <a:t>balance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optimality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efficiency</a:t>
            </a:r>
          </a:p>
          <a:p>
            <a:pPr marL="12700">
              <a:lnSpc>
                <a:spcPts val="4105"/>
              </a:lnSpc>
            </a:pPr>
            <a:r>
              <a:rPr dirty="0"/>
              <a:t>Do</a:t>
            </a:r>
            <a:r>
              <a:rPr dirty="0" spc="-30"/>
              <a:t> </a:t>
            </a:r>
            <a:r>
              <a:rPr dirty="0"/>
              <a:t>results</a:t>
            </a:r>
            <a:r>
              <a:rPr dirty="0" spc="-15"/>
              <a:t> </a:t>
            </a:r>
            <a:r>
              <a:rPr dirty="0"/>
              <a:t>match</a:t>
            </a:r>
            <a:r>
              <a:rPr dirty="0" spc="-15"/>
              <a:t> </a:t>
            </a:r>
            <a:r>
              <a:rPr dirty="0"/>
              <a:t>theory?</a:t>
            </a:r>
            <a:r>
              <a:rPr dirty="0" spc="-20"/>
              <a:t> </a:t>
            </a:r>
            <a:r>
              <a:rPr dirty="0"/>
              <a:t>Yes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trends.</a:t>
            </a:r>
          </a:p>
          <a:p>
            <a:pPr marL="12700" marR="5080">
              <a:lnSpc>
                <a:spcPts val="4280"/>
              </a:lnSpc>
              <a:spcBef>
                <a:spcPts val="115"/>
              </a:spcBef>
            </a:pPr>
            <a:r>
              <a:rPr dirty="0"/>
              <a:t>Why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exact?</a:t>
            </a:r>
            <a:r>
              <a:rPr dirty="0" spc="-25"/>
              <a:t> </a:t>
            </a:r>
            <a:r>
              <a:rPr dirty="0"/>
              <a:t>Finite</a:t>
            </a:r>
            <a:r>
              <a:rPr dirty="0" spc="-25"/>
              <a:t> </a:t>
            </a:r>
            <a:r>
              <a:rPr dirty="0"/>
              <a:t>maps,</a:t>
            </a:r>
            <a:r>
              <a:rPr dirty="0" spc="-25"/>
              <a:t> </a:t>
            </a:r>
            <a:r>
              <a:rPr dirty="0"/>
              <a:t>obstacles,</a:t>
            </a:r>
            <a:r>
              <a:rPr dirty="0" spc="-25"/>
              <a:t> </a:t>
            </a:r>
            <a:r>
              <a:rPr dirty="0"/>
              <a:t>heuristic</a:t>
            </a:r>
            <a:r>
              <a:rPr dirty="0" spc="-25"/>
              <a:t> </a:t>
            </a:r>
            <a:r>
              <a:rPr dirty="0" spc="-10"/>
              <a:t>guidance. </a:t>
            </a:r>
            <a:r>
              <a:rPr dirty="0"/>
              <a:t>Results</a:t>
            </a:r>
            <a:r>
              <a:rPr dirty="0" spc="-35"/>
              <a:t> </a:t>
            </a:r>
            <a:r>
              <a:rPr dirty="0"/>
              <a:t>align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theory.</a:t>
            </a:r>
          </a:p>
        </p:txBody>
      </p:sp>
      <p:sp>
        <p:nvSpPr>
          <p:cNvPr id="16" name="object 16" descr=""/>
          <p:cNvSpPr/>
          <p:nvPr/>
        </p:nvSpPr>
        <p:spPr>
          <a:xfrm>
            <a:off x="1185862" y="4278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85862" y="4821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85862" y="5364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85862" y="5907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85862" y="6450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409" rIns="0" bIns="0" rtlCol="0" vert="horz">
            <a:spAutoFit/>
          </a:bodyPr>
          <a:lstStyle/>
          <a:p>
            <a:pPr marL="629285">
              <a:lnSpc>
                <a:spcPct val="100000"/>
              </a:lnSpc>
              <a:spcBef>
                <a:spcPts val="95"/>
              </a:spcBef>
            </a:pPr>
            <a:r>
              <a:rPr dirty="0" spc="-170"/>
              <a:t>Empirical</a:t>
            </a:r>
            <a:r>
              <a:rPr dirty="0" spc="-290"/>
              <a:t> </a:t>
            </a:r>
            <a:r>
              <a:rPr dirty="0" spc="-140"/>
              <a:t>Validation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84079" y="932210"/>
          <a:ext cx="17059275" cy="9041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0"/>
                <a:gridCol w="5657850"/>
                <a:gridCol w="5657850"/>
              </a:tblGrid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Performance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Metric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D2</a:t>
                      </a:r>
                      <a:r>
                        <a:rPr dirty="0" sz="1800" spc="-14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Theoretical</a:t>
                      </a:r>
                      <a:r>
                        <a:rPr dirty="0" sz="18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Prediction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8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D3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Empirical</a:t>
                      </a: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Result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(L3</a:t>
                      </a: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Implementation)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2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+1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Path</a:t>
                      </a:r>
                      <a:r>
                        <a:rPr dirty="0" sz="1800" spc="-15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Optimality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 marR="671195">
                        <a:lnSpc>
                          <a:spcPts val="1800"/>
                        </a:lnSpc>
                      </a:pPr>
                      <a:r>
                        <a:rPr dirty="0" sz="1600" spc="-16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UCS</a:t>
                      </a:r>
                      <a:r>
                        <a:rPr dirty="0" sz="1600" spc="-14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6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dirty="0" sz="16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*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find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9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delivery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zone.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04775">
                        <a:lnSpc>
                          <a:spcPts val="1730"/>
                        </a:lnSpc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Case,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both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UCS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A*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achieved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138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steps/energy.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14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Search</a:t>
                      </a:r>
                      <a:r>
                        <a:rPr dirty="0" sz="1500" spc="-15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Efficiency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72009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BFS/UCS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expand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due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uniform,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uninformed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exploration.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28638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BFS/UCS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expanded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~25,258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Case,</a:t>
                      </a:r>
                      <a:r>
                        <a:rPr dirty="0" sz="1500" spc="-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showing</a:t>
                      </a:r>
                      <a:r>
                        <a:rPr dirty="0" sz="1500" spc="-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poor</a:t>
                      </a:r>
                      <a:r>
                        <a:rPr dirty="0" sz="1500" spc="-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scalability.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Heuristic</a:t>
                      </a:r>
                      <a:r>
                        <a:rPr dirty="0" sz="1500" spc="-7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Guidance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47561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*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drastically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reduce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</a:t>
                      </a:r>
                      <a:r>
                        <a:rPr dirty="0" sz="1500" spc="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compared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14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uninformed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search.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36258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A*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(Manhattan)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reduced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~90%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(from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25,258</a:t>
                      </a:r>
                      <a:r>
                        <a:rPr dirty="0" sz="1500" spc="-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down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500" spc="-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2,601).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Speed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vs.</a:t>
                      </a:r>
                      <a:r>
                        <a:rPr dirty="0" sz="1500" spc="-114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Quality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9017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9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Greedy</a:t>
                      </a:r>
                      <a:r>
                        <a:rPr dirty="0" sz="15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(GBFS)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fastest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yield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sub-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 "longer"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paths.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4732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 </a:t>
                      </a:r>
                      <a:r>
                        <a:rPr dirty="0" sz="1500" spc="-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GBFS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fastest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(512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nodes)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produced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sub-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170-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step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Heuristic</a:t>
                      </a:r>
                      <a:r>
                        <a:rPr dirty="0" sz="1500" spc="-7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Choice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382905">
                        <a:lnSpc>
                          <a:spcPts val="1730"/>
                        </a:lnSpc>
                      </a:pP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Stronger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heuristics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(H2)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generally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outperform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simple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ones</a:t>
                      </a:r>
                      <a:r>
                        <a:rPr dirty="0" sz="1500" spc="1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(H1).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9939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10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Variable.</a:t>
                      </a: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Manhattan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(H1)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actually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outperformed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Landmark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(H2)</a:t>
                      </a:r>
                      <a:r>
                        <a:rPr dirty="0" sz="1500" spc="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500" spc="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maze-like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JYOTSNA LAL</dc:creator>
  <cp:keywords>DAHFcMhMjHE,BAGqrbjKiso,0</cp:keywords>
  <dc:title>GRP_17_PPT</dc:title>
  <dcterms:created xsi:type="dcterms:W3CDTF">2026-03-30T18:32:23Z</dcterms:created>
  <dcterms:modified xsi:type="dcterms:W3CDTF">2026-03-30T18:32:23Z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2026-03-30T00:00:00Z</vt:filetime>
  </property>
  <property fmtid="{D5CDD505-2E9C-101B-9397-08002B2CF9AE}" pid="5" name="Producer">
    <vt:lpwstr>Canva</vt:lpwstr>
  </property>
</Properties>
</file>